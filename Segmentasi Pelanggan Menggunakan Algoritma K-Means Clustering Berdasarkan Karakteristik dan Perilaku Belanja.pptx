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Montserrat Bold" charset="1" panose="00000800000000000000"/>
      <p:regular r:id="rId32"/>
    </p:embeddedFont>
    <p:embeddedFont>
      <p:font typeface="Montserrat Ultra-Bold" charset="1" panose="00000900000000000000"/>
      <p:regular r:id="rId33"/>
    </p:embeddedFont>
    <p:embeddedFont>
      <p:font typeface="Arimo Bold" charset="1" panose="020B0704020202020204"/>
      <p:regular r:id="rId34"/>
    </p:embeddedFont>
    <p:embeddedFont>
      <p:font typeface="Arimo" charset="1" panose="020B0604020202020204"/>
      <p:regular r:id="rId35"/>
    </p:embeddedFont>
    <p:embeddedFont>
      <p:font typeface="Canva Sans 1" charset="1" panose="020B0503030501040103"/>
      <p:regular r:id="rId36"/>
    </p:embeddedFont>
    <p:embeddedFont>
      <p:font typeface="Montserrat Semi-Bold" charset="1" panose="00000700000000000000"/>
      <p:regular r:id="rId37"/>
    </p:embeddedFont>
    <p:embeddedFont>
      <p:font typeface="Canva Sans 1 Bold" charset="1" panose="020B0803030501040103"/>
      <p:regular r:id="rId38"/>
    </p:embeddedFont>
    <p:embeddedFont>
      <p:font typeface="Canva Sans 2 Bold" charset="1" panose="020B0803030501040103"/>
      <p:regular r:id="rId39"/>
    </p:embeddedFont>
    <p:embeddedFont>
      <p:font typeface="Open Sans Bold" charset="1" panose="000000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https://www.kaggle.com/datasets/vishakhdapat/customer-segmentation-clustering/data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21.png" Type="http://schemas.openxmlformats.org/officeDocument/2006/relationships/image"/><Relationship Id="rId5" Target="../media/image2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2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36611" cy="10258094"/>
          </a:xfrm>
          <a:custGeom>
            <a:avLst/>
            <a:gdLst/>
            <a:ahLst/>
            <a:cxnLst/>
            <a:rect r="r" b="b" t="t" l="l"/>
            <a:pathLst>
              <a:path h="10258094" w="18236611">
                <a:moveTo>
                  <a:pt x="0" y="0"/>
                </a:moveTo>
                <a:lnTo>
                  <a:pt x="18236611" y="0"/>
                </a:lnTo>
                <a:lnTo>
                  <a:pt x="18236611" y="10258094"/>
                </a:lnTo>
                <a:lnTo>
                  <a:pt x="0" y="10258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15994">
            <a:off x="-501188" y="7288152"/>
            <a:ext cx="3322320" cy="4739640"/>
          </a:xfrm>
          <a:custGeom>
            <a:avLst/>
            <a:gdLst/>
            <a:ahLst/>
            <a:cxnLst/>
            <a:rect r="r" b="b" t="t" l="l"/>
            <a:pathLst>
              <a:path h="4739640" w="3322320">
                <a:moveTo>
                  <a:pt x="0" y="0"/>
                </a:moveTo>
                <a:lnTo>
                  <a:pt x="3322320" y="0"/>
                </a:lnTo>
                <a:lnTo>
                  <a:pt x="3322320" y="4739640"/>
                </a:lnTo>
                <a:lnTo>
                  <a:pt x="0" y="4739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261" t="-11188" r="-23698" b="-950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31965" y="797735"/>
            <a:ext cx="4340361" cy="5787148"/>
          </a:xfrm>
          <a:custGeom>
            <a:avLst/>
            <a:gdLst/>
            <a:ahLst/>
            <a:cxnLst/>
            <a:rect r="r" b="b" t="t" l="l"/>
            <a:pathLst>
              <a:path h="5787148" w="4340361">
                <a:moveTo>
                  <a:pt x="0" y="0"/>
                </a:moveTo>
                <a:lnTo>
                  <a:pt x="4340361" y="0"/>
                </a:lnTo>
                <a:lnTo>
                  <a:pt x="4340361" y="5787149"/>
                </a:lnTo>
                <a:lnTo>
                  <a:pt x="0" y="5787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215712" y="-1058774"/>
            <a:ext cx="20814897" cy="14219046"/>
            <a:chOff x="0" y="0"/>
            <a:chExt cx="5482113" cy="37449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2113" cy="3744934"/>
            </a:xfrm>
            <a:custGeom>
              <a:avLst/>
              <a:gdLst/>
              <a:ahLst/>
              <a:cxnLst/>
              <a:rect r="r" b="b" t="t" l="l"/>
              <a:pathLst>
                <a:path h="3744934" w="5482113">
                  <a:moveTo>
                    <a:pt x="0" y="0"/>
                  </a:moveTo>
                  <a:lnTo>
                    <a:pt x="5482113" y="0"/>
                  </a:lnTo>
                  <a:lnTo>
                    <a:pt x="5482113" y="3744934"/>
                  </a:lnTo>
                  <a:lnTo>
                    <a:pt x="0" y="3744934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55500"/>
                  </a:srgbClr>
                </a:gs>
                <a:gs pos="50000">
                  <a:srgbClr val="000000">
                    <a:alpha val="50000"/>
                  </a:srgbClr>
                </a:gs>
                <a:gs pos="100000">
                  <a:srgbClr val="FA00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482113" cy="3783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469039" y="7302580"/>
            <a:ext cx="4848284" cy="2981695"/>
          </a:xfrm>
          <a:custGeom>
            <a:avLst/>
            <a:gdLst/>
            <a:ahLst/>
            <a:cxnLst/>
            <a:rect r="r" b="b" t="t" l="l"/>
            <a:pathLst>
              <a:path h="2981695" w="4848284">
                <a:moveTo>
                  <a:pt x="0" y="0"/>
                </a:moveTo>
                <a:lnTo>
                  <a:pt x="4848284" y="0"/>
                </a:lnTo>
                <a:lnTo>
                  <a:pt x="4848284" y="2981694"/>
                </a:lnTo>
                <a:lnTo>
                  <a:pt x="0" y="29816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51093" y="666764"/>
            <a:ext cx="1985813" cy="1985813"/>
          </a:xfrm>
          <a:custGeom>
            <a:avLst/>
            <a:gdLst/>
            <a:ahLst/>
            <a:cxnLst/>
            <a:rect r="r" b="b" t="t" l="l"/>
            <a:pathLst>
              <a:path h="1985813" w="1985813">
                <a:moveTo>
                  <a:pt x="0" y="0"/>
                </a:moveTo>
                <a:lnTo>
                  <a:pt x="1985814" y="0"/>
                </a:lnTo>
                <a:lnTo>
                  <a:pt x="1985814" y="1985813"/>
                </a:lnTo>
                <a:lnTo>
                  <a:pt x="0" y="19858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07233" y="2912491"/>
            <a:ext cx="12769007" cy="121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3"/>
              </a:lnSpc>
              <a:spcBef>
                <a:spcPct val="0"/>
              </a:spcBef>
            </a:pPr>
            <a:r>
              <a:rPr lang="en-US" b="true" sz="713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SEGMENTASI PELANGGAN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59497" y="2751392"/>
            <a:ext cx="12769007" cy="121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3"/>
              </a:lnSpc>
              <a:spcBef>
                <a:spcPct val="0"/>
              </a:spcBef>
            </a:pPr>
            <a:r>
              <a:rPr lang="en-US" b="true" sz="7138">
                <a:solidFill>
                  <a:srgbClr val="FFE6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SEGMENTASI PELANGGAN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211201" y="9271812"/>
            <a:ext cx="9170989" cy="696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1"/>
              </a:lnSpc>
              <a:spcBef>
                <a:spcPct val="0"/>
              </a:spcBef>
            </a:pPr>
            <a:r>
              <a:rPr lang="en-US" b="true" sz="409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CLASSIC MACHINE LEARNING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96779" y="4157031"/>
            <a:ext cx="8094441" cy="142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1"/>
              </a:lnSpc>
              <a:spcBef>
                <a:spcPct val="0"/>
              </a:spcBef>
            </a:pPr>
            <a:r>
              <a:rPr lang="en-US" b="true" sz="409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MENGGUNAKAN ALGORITMA K-MEANS CLUSTERING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8604" y="5678104"/>
            <a:ext cx="15570792" cy="67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5"/>
              </a:lnSpc>
              <a:spcBef>
                <a:spcPct val="0"/>
              </a:spcBef>
            </a:pPr>
            <a:r>
              <a:rPr lang="en-US" b="true" sz="4032">
                <a:solidFill>
                  <a:srgbClr val="FFE6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BERDASARKAN KARAKTERISTIK &amp; PERILAKU BELANJA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47700" y="6671044"/>
            <a:ext cx="8560260" cy="240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KITA DI CARRY AZIZ RKA NRP 002</a:t>
            </a:r>
          </a:p>
          <a:p>
            <a:pPr algn="ctr">
              <a:lnSpc>
                <a:spcPts val="3825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AZIZ RAHMAD ARIFIN RKA 002</a:t>
            </a:r>
          </a:p>
          <a:p>
            <a:pPr algn="ctr">
              <a:lnSpc>
                <a:spcPts val="3825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ISHAM HAWALI ARIJUDDIN IF 079</a:t>
            </a:r>
          </a:p>
          <a:p>
            <a:pPr algn="ctr">
              <a:lnSpc>
                <a:spcPts val="3825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SULAIMAN FAIZ TSAQIB RKA 048</a:t>
            </a:r>
          </a:p>
          <a:p>
            <a:pPr algn="ctr">
              <a:lnSpc>
                <a:spcPts val="3825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COKORDA BAGUS LAKSMANA ISWARA IF 273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17359" y="1622446"/>
            <a:ext cx="7013201" cy="7013201"/>
          </a:xfrm>
          <a:custGeom>
            <a:avLst/>
            <a:gdLst/>
            <a:ahLst/>
            <a:cxnLst/>
            <a:rect r="r" b="b" t="t" l="l"/>
            <a:pathLst>
              <a:path h="7013201" w="7013201">
                <a:moveTo>
                  <a:pt x="0" y="0"/>
                </a:moveTo>
                <a:lnTo>
                  <a:pt x="7013202" y="0"/>
                </a:lnTo>
                <a:lnTo>
                  <a:pt x="7013202" y="7013202"/>
                </a:lnTo>
                <a:lnTo>
                  <a:pt x="0" y="7013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8406" y="1390650"/>
            <a:ext cx="6019109" cy="3395781"/>
          </a:xfrm>
          <a:custGeom>
            <a:avLst/>
            <a:gdLst/>
            <a:ahLst/>
            <a:cxnLst/>
            <a:rect r="r" b="b" t="t" l="l"/>
            <a:pathLst>
              <a:path h="3395781" w="6019109">
                <a:moveTo>
                  <a:pt x="0" y="0"/>
                </a:moveTo>
                <a:lnTo>
                  <a:pt x="6019108" y="0"/>
                </a:lnTo>
                <a:lnTo>
                  <a:pt x="6019108" y="3395781"/>
                </a:lnTo>
                <a:lnTo>
                  <a:pt x="0" y="33957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568838" y="1390650"/>
            <a:ext cx="5332892" cy="3555261"/>
          </a:xfrm>
          <a:custGeom>
            <a:avLst/>
            <a:gdLst/>
            <a:ahLst/>
            <a:cxnLst/>
            <a:rect r="r" b="b" t="t" l="l"/>
            <a:pathLst>
              <a:path h="3555261" w="5332892">
                <a:moveTo>
                  <a:pt x="0" y="0"/>
                </a:moveTo>
                <a:lnTo>
                  <a:pt x="5332892" y="0"/>
                </a:lnTo>
                <a:lnTo>
                  <a:pt x="5332892" y="3555261"/>
                </a:lnTo>
                <a:lnTo>
                  <a:pt x="0" y="3555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6024471"/>
            <a:ext cx="6045515" cy="3405640"/>
          </a:xfrm>
          <a:custGeom>
            <a:avLst/>
            <a:gdLst/>
            <a:ahLst/>
            <a:cxnLst/>
            <a:rect r="r" b="b" t="t" l="l"/>
            <a:pathLst>
              <a:path h="3405640" w="6045515">
                <a:moveTo>
                  <a:pt x="0" y="0"/>
                </a:moveTo>
                <a:lnTo>
                  <a:pt x="6045515" y="0"/>
                </a:lnTo>
                <a:lnTo>
                  <a:pt x="6045515" y="3405640"/>
                </a:lnTo>
                <a:lnTo>
                  <a:pt x="0" y="3405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42732" y="5792667"/>
            <a:ext cx="5158998" cy="3869248"/>
          </a:xfrm>
          <a:custGeom>
            <a:avLst/>
            <a:gdLst/>
            <a:ahLst/>
            <a:cxnLst/>
            <a:rect r="r" b="b" t="t" l="l"/>
            <a:pathLst>
              <a:path h="3869248" w="5158998">
                <a:moveTo>
                  <a:pt x="0" y="0"/>
                </a:moveTo>
                <a:lnTo>
                  <a:pt x="5158998" y="0"/>
                </a:lnTo>
                <a:lnTo>
                  <a:pt x="5158998" y="3869248"/>
                </a:lnTo>
                <a:lnTo>
                  <a:pt x="0" y="38692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65541" y="471249"/>
            <a:ext cx="152400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LATAR BELAKANG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08169" y="2024771"/>
            <a:ext cx="16351131" cy="1961228"/>
            <a:chOff x="0" y="0"/>
            <a:chExt cx="4306471" cy="5165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06471" cy="516537"/>
            </a:xfrm>
            <a:custGeom>
              <a:avLst/>
              <a:gdLst/>
              <a:ahLst/>
              <a:cxnLst/>
              <a:rect r="r" b="b" t="t" l="l"/>
              <a:pathLst>
                <a:path h="516537" w="4306471">
                  <a:moveTo>
                    <a:pt x="24147" y="0"/>
                  </a:moveTo>
                  <a:lnTo>
                    <a:pt x="4282323" y="0"/>
                  </a:lnTo>
                  <a:cubicBezTo>
                    <a:pt x="4295660" y="0"/>
                    <a:pt x="4306471" y="10811"/>
                    <a:pt x="4306471" y="24147"/>
                  </a:cubicBezTo>
                  <a:lnTo>
                    <a:pt x="4306471" y="492390"/>
                  </a:lnTo>
                  <a:cubicBezTo>
                    <a:pt x="4306471" y="505726"/>
                    <a:pt x="4295660" y="516537"/>
                    <a:pt x="4282323" y="516537"/>
                  </a:cubicBezTo>
                  <a:lnTo>
                    <a:pt x="24147" y="516537"/>
                  </a:lnTo>
                  <a:cubicBezTo>
                    <a:pt x="10811" y="516537"/>
                    <a:pt x="0" y="505726"/>
                    <a:pt x="0" y="492390"/>
                  </a:cubicBezTo>
                  <a:lnTo>
                    <a:pt x="0" y="24147"/>
                  </a:lnTo>
                  <a:cubicBezTo>
                    <a:pt x="0" y="10811"/>
                    <a:pt x="10811" y="0"/>
                    <a:pt x="24147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06471" cy="554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77749" y="4747998"/>
            <a:ext cx="15415584" cy="3880128"/>
            <a:chOff x="0" y="0"/>
            <a:chExt cx="4060072" cy="10219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0072" cy="1021927"/>
            </a:xfrm>
            <a:custGeom>
              <a:avLst/>
              <a:gdLst/>
              <a:ahLst/>
              <a:cxnLst/>
              <a:rect r="r" b="b" t="t" l="l"/>
              <a:pathLst>
                <a:path h="1021927" w="4060072">
                  <a:moveTo>
                    <a:pt x="25613" y="0"/>
                  </a:moveTo>
                  <a:lnTo>
                    <a:pt x="4034459" y="0"/>
                  </a:lnTo>
                  <a:cubicBezTo>
                    <a:pt x="4048604" y="0"/>
                    <a:pt x="4060072" y="11467"/>
                    <a:pt x="4060072" y="25613"/>
                  </a:cubicBezTo>
                  <a:lnTo>
                    <a:pt x="4060072" y="996314"/>
                  </a:lnTo>
                  <a:cubicBezTo>
                    <a:pt x="4060072" y="1010459"/>
                    <a:pt x="4048604" y="1021927"/>
                    <a:pt x="4034459" y="1021927"/>
                  </a:cubicBezTo>
                  <a:lnTo>
                    <a:pt x="25613" y="1021927"/>
                  </a:lnTo>
                  <a:cubicBezTo>
                    <a:pt x="11467" y="1021927"/>
                    <a:pt x="0" y="1010459"/>
                    <a:pt x="0" y="996314"/>
                  </a:cubicBezTo>
                  <a:lnTo>
                    <a:pt x="0" y="25613"/>
                  </a:lnTo>
                  <a:cubicBezTo>
                    <a:pt x="0" y="11467"/>
                    <a:pt x="11467" y="0"/>
                    <a:pt x="2561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0072" cy="1060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-2350427" y="466573"/>
            <a:ext cx="22465340" cy="109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0"/>
              </a:lnSpc>
            </a:pPr>
            <a:r>
              <a:rPr lang="en-US" sz="7075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LATAR BELAKANG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8888" y="2195126"/>
            <a:ext cx="16088316" cy="148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0"/>
              </a:lnSpc>
            </a:pPr>
            <a:r>
              <a:rPr lang="en-US" b="true" sz="396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Selama ini seluruh pelanggan diperlakukan sama, padahal profil dan perilaku belanjanya sangat beragam.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0675" y="4978038"/>
            <a:ext cx="15488625" cy="298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3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Pendekatan one-size-fits-all dalam pemasaran sering kali tidak efisien karena: </a:t>
            </a:r>
          </a:p>
          <a:p>
            <a:pPr algn="l" marL="677074" indent="-338537" lvl="1">
              <a:lnSpc>
                <a:spcPts val="4704"/>
              </a:lnSpc>
              <a:buAutoNum type="arabicPeriod" startAt="1"/>
            </a:pPr>
            <a:r>
              <a:rPr lang="en-US" sz="3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Biaya kampanye pemasaran tinggi namun tingkat konversi rendah.</a:t>
            </a:r>
          </a:p>
          <a:p>
            <a:pPr algn="l" marL="677074" indent="-338537" lvl="1">
              <a:lnSpc>
                <a:spcPts val="4704"/>
              </a:lnSpc>
              <a:buAutoNum type="arabicPeriod" startAt="1"/>
            </a:pPr>
            <a:r>
              <a:rPr lang="en-US" sz="3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Pelanggan bernilai tinggi tidak mendapat perhatian khusus.</a:t>
            </a:r>
          </a:p>
          <a:p>
            <a:pPr algn="l" marL="677074" indent="-338537" lvl="1">
              <a:lnSpc>
                <a:spcPts val="4704"/>
              </a:lnSpc>
              <a:buAutoNum type="arabicPeriod" startAt="1"/>
            </a:pPr>
            <a:r>
              <a:rPr lang="en-US" sz="3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Pelanggan sensitif harga tidak dijangkau dengan penawaran yang tepat.</a:t>
            </a:r>
          </a:p>
          <a:p>
            <a:pPr algn="l" marL="677074" indent="-338537" lvl="1">
              <a:lnSpc>
                <a:spcPts val="4704"/>
              </a:lnSpc>
              <a:buAutoNum type="arabicPeriod" startAt="1"/>
            </a:pPr>
            <a:r>
              <a:rPr lang="en-US" sz="3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Perusahaan kehilangan potensi revenue karena tidak mengenali segmen pasar.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757376">
            <a:off x="-149770" y="-365784"/>
            <a:ext cx="3186939" cy="3186939"/>
          </a:xfrm>
          <a:custGeom>
            <a:avLst/>
            <a:gdLst/>
            <a:ahLst/>
            <a:cxnLst/>
            <a:rect r="r" b="b" t="t" l="l"/>
            <a:pathLst>
              <a:path h="3186939" w="3186939">
                <a:moveTo>
                  <a:pt x="0" y="0"/>
                </a:moveTo>
                <a:lnTo>
                  <a:pt x="3186940" y="0"/>
                </a:lnTo>
                <a:lnTo>
                  <a:pt x="3186940" y="3186940"/>
                </a:lnTo>
                <a:lnTo>
                  <a:pt x="0" y="3186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65541" y="471249"/>
            <a:ext cx="152400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LATAR BELAKANG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8719" y="2939563"/>
            <a:ext cx="16048655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Customer segmentation menggunakan teknik machine learning (clustering) memungkinkan pengelompokan pelanggan secara otomatis berdasarkan data perilaku, sehingga perusahaan dapat menyesuaikan strategi untuk setiap segmen.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3082" y="1438927"/>
            <a:ext cx="10061585" cy="6113834"/>
            <a:chOff x="0" y="0"/>
            <a:chExt cx="2649965" cy="16102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49965" cy="1610228"/>
            </a:xfrm>
            <a:custGeom>
              <a:avLst/>
              <a:gdLst/>
              <a:ahLst/>
              <a:cxnLst/>
              <a:rect r="r" b="b" t="t" l="l"/>
              <a:pathLst>
                <a:path h="1610228" w="2649965">
                  <a:moveTo>
                    <a:pt x="0" y="0"/>
                  </a:moveTo>
                  <a:lnTo>
                    <a:pt x="2649965" y="0"/>
                  </a:lnTo>
                  <a:lnTo>
                    <a:pt x="2649965" y="1610228"/>
                  </a:lnTo>
                  <a:lnTo>
                    <a:pt x="0" y="16102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49965" cy="1648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73379" y="-1287670"/>
            <a:ext cx="3346829" cy="5964348"/>
          </a:xfrm>
          <a:custGeom>
            <a:avLst/>
            <a:gdLst/>
            <a:ahLst/>
            <a:cxnLst/>
            <a:rect r="r" b="b" t="t" l="l"/>
            <a:pathLst>
              <a:path h="5964348" w="3346829">
                <a:moveTo>
                  <a:pt x="0" y="0"/>
                </a:moveTo>
                <a:lnTo>
                  <a:pt x="3346829" y="0"/>
                </a:lnTo>
                <a:lnTo>
                  <a:pt x="3346829" y="5964348"/>
                </a:lnTo>
                <a:lnTo>
                  <a:pt x="0" y="5964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1939" y="1877384"/>
            <a:ext cx="10355053" cy="6429908"/>
          </a:xfrm>
          <a:custGeom>
            <a:avLst/>
            <a:gdLst/>
            <a:ahLst/>
            <a:cxnLst/>
            <a:rect r="r" b="b" t="t" l="l"/>
            <a:pathLst>
              <a:path h="6429908" w="10355053">
                <a:moveTo>
                  <a:pt x="0" y="0"/>
                </a:moveTo>
                <a:lnTo>
                  <a:pt x="10355054" y="0"/>
                </a:lnTo>
                <a:lnTo>
                  <a:pt x="10355054" y="6429908"/>
                </a:lnTo>
                <a:lnTo>
                  <a:pt x="0" y="64299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853488" y="4481835"/>
            <a:ext cx="9159677" cy="4627788"/>
            <a:chOff x="0" y="0"/>
            <a:chExt cx="2412425" cy="12188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12425" cy="1218841"/>
            </a:xfrm>
            <a:custGeom>
              <a:avLst/>
              <a:gdLst/>
              <a:ahLst/>
              <a:cxnLst/>
              <a:rect r="r" b="b" t="t" l="l"/>
              <a:pathLst>
                <a:path h="1218841" w="2412425">
                  <a:moveTo>
                    <a:pt x="0" y="0"/>
                  </a:moveTo>
                  <a:lnTo>
                    <a:pt x="2412425" y="0"/>
                  </a:lnTo>
                  <a:lnTo>
                    <a:pt x="2412425" y="1218841"/>
                  </a:lnTo>
                  <a:lnTo>
                    <a:pt x="0" y="121884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12425" cy="1256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124474" y="4925320"/>
            <a:ext cx="9364713" cy="4890374"/>
          </a:xfrm>
          <a:custGeom>
            <a:avLst/>
            <a:gdLst/>
            <a:ahLst/>
            <a:cxnLst/>
            <a:rect r="r" b="b" t="t" l="l"/>
            <a:pathLst>
              <a:path h="4890374" w="9364713">
                <a:moveTo>
                  <a:pt x="0" y="0"/>
                </a:moveTo>
                <a:lnTo>
                  <a:pt x="9364713" y="0"/>
                </a:lnTo>
                <a:lnTo>
                  <a:pt x="9364713" y="4890374"/>
                </a:lnTo>
                <a:lnTo>
                  <a:pt x="0" y="4890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60456" y="8868836"/>
            <a:ext cx="12567087" cy="389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u="sng">
                <a:solidFill>
                  <a:srgbClr val="FFE600"/>
                </a:solidFill>
                <a:latin typeface="Canva Sans 1"/>
                <a:ea typeface="Canva Sans 1"/>
                <a:cs typeface="Canva Sans 1"/>
                <a:sym typeface="Canva Sans 1"/>
                <a:hlinkClick r:id="rId7" tooltip="https://www.kaggle.com/datasets/vishakhdapat/customer-segmentation-clustering/data"/>
              </a:rPr>
              <a:t>https://www.kaggle.com/datasets/vishakhdapat/customer-segmentation-clustering/data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56346" y="517854"/>
            <a:ext cx="7375308" cy="91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3"/>
              </a:lnSpc>
              <a:spcBef>
                <a:spcPct val="0"/>
              </a:spcBef>
            </a:pPr>
            <a:r>
              <a:rPr lang="en-US" b="true" sz="5352">
                <a:solidFill>
                  <a:srgbClr val="FFE6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SUMBER DATASET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42213" y="2263034"/>
            <a:ext cx="6390263" cy="177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3"/>
              </a:lnSpc>
              <a:spcBef>
                <a:spcPct val="0"/>
              </a:spcBef>
            </a:pPr>
            <a:r>
              <a:rPr lang="en-US" b="true" sz="2559">
                <a:solidFill>
                  <a:srgbClr val="FFE6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Dataset Customer Personality Analysis (Kaggle): 2.240 pelanggan retail, 29 kolom, periode pendaftaran 2012–2014.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71524" y="2432997"/>
            <a:ext cx="15150908" cy="4343310"/>
            <a:chOff x="0" y="0"/>
            <a:chExt cx="3990363" cy="11439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90363" cy="1143917"/>
            </a:xfrm>
            <a:custGeom>
              <a:avLst/>
              <a:gdLst/>
              <a:ahLst/>
              <a:cxnLst/>
              <a:rect r="r" b="b" t="t" l="l"/>
              <a:pathLst>
                <a:path h="1143917" w="3990363">
                  <a:moveTo>
                    <a:pt x="26060" y="0"/>
                  </a:moveTo>
                  <a:lnTo>
                    <a:pt x="3964302" y="0"/>
                  </a:lnTo>
                  <a:cubicBezTo>
                    <a:pt x="3971214" y="0"/>
                    <a:pt x="3977842" y="2746"/>
                    <a:pt x="3982730" y="7633"/>
                  </a:cubicBezTo>
                  <a:cubicBezTo>
                    <a:pt x="3987617" y="12520"/>
                    <a:pt x="3990363" y="19149"/>
                    <a:pt x="3990363" y="26060"/>
                  </a:cubicBezTo>
                  <a:lnTo>
                    <a:pt x="3990363" y="1117857"/>
                  </a:lnTo>
                  <a:cubicBezTo>
                    <a:pt x="3990363" y="1124768"/>
                    <a:pt x="3987617" y="1131397"/>
                    <a:pt x="3982730" y="1136284"/>
                  </a:cubicBezTo>
                  <a:cubicBezTo>
                    <a:pt x="3977842" y="1141171"/>
                    <a:pt x="3971214" y="1143917"/>
                    <a:pt x="3964302" y="1143917"/>
                  </a:cubicBezTo>
                  <a:lnTo>
                    <a:pt x="26060" y="1143917"/>
                  </a:lnTo>
                  <a:cubicBezTo>
                    <a:pt x="19149" y="1143917"/>
                    <a:pt x="12520" y="1141171"/>
                    <a:pt x="7633" y="1136284"/>
                  </a:cubicBezTo>
                  <a:cubicBezTo>
                    <a:pt x="2746" y="1131397"/>
                    <a:pt x="0" y="1124768"/>
                    <a:pt x="0" y="1117857"/>
                  </a:cubicBezTo>
                  <a:lnTo>
                    <a:pt x="0" y="26060"/>
                  </a:lnTo>
                  <a:cubicBezTo>
                    <a:pt x="0" y="19149"/>
                    <a:pt x="2746" y="12520"/>
                    <a:pt x="7633" y="7633"/>
                  </a:cubicBezTo>
                  <a:cubicBezTo>
                    <a:pt x="12520" y="2746"/>
                    <a:pt x="19149" y="0"/>
                    <a:pt x="260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990363" cy="118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24064" y="2879428"/>
            <a:ext cx="14245828" cy="341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Id: Nomor identitas yang digunakan untuk membedakan setiap pelanggan.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Year_Birth: Tahun lahir pelanggan.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Education: Pendidikan terakhir yang dimiliki pelanggan.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Marital_Status: Status pernikahan pelanggan.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Income: Jumlah pendapatan pelanggan dalam satu tahun.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Kidhome: Jumlah anak kecil yang ada di rumah.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Teenhome: Jumlah anak remaja yang ada di rumah.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Dt_Customer: Tanggal pertama kali pelanggan terdaftar di perusahaan.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Recency: Jumlah hari yang sudah berlalu sejak pelanggan terakhir kali melakukan pembelian atau interaksi.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56346" y="517854"/>
            <a:ext cx="7375308" cy="91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3"/>
              </a:lnSpc>
              <a:spcBef>
                <a:spcPct val="0"/>
              </a:spcBef>
            </a:pPr>
            <a:r>
              <a:rPr lang="en-US" b="true" sz="5352">
                <a:solidFill>
                  <a:srgbClr val="FFE6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DAFTAR FITUR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71524" y="2432997"/>
            <a:ext cx="15150908" cy="5001780"/>
            <a:chOff x="0" y="0"/>
            <a:chExt cx="3990363" cy="13173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90363" cy="1317341"/>
            </a:xfrm>
            <a:custGeom>
              <a:avLst/>
              <a:gdLst/>
              <a:ahLst/>
              <a:cxnLst/>
              <a:rect r="r" b="b" t="t" l="l"/>
              <a:pathLst>
                <a:path h="1317341" w="3990363">
                  <a:moveTo>
                    <a:pt x="26060" y="0"/>
                  </a:moveTo>
                  <a:lnTo>
                    <a:pt x="3964302" y="0"/>
                  </a:lnTo>
                  <a:cubicBezTo>
                    <a:pt x="3971214" y="0"/>
                    <a:pt x="3977842" y="2746"/>
                    <a:pt x="3982730" y="7633"/>
                  </a:cubicBezTo>
                  <a:cubicBezTo>
                    <a:pt x="3987617" y="12520"/>
                    <a:pt x="3990363" y="19149"/>
                    <a:pt x="3990363" y="26060"/>
                  </a:cubicBezTo>
                  <a:lnTo>
                    <a:pt x="3990363" y="1291281"/>
                  </a:lnTo>
                  <a:cubicBezTo>
                    <a:pt x="3990363" y="1298193"/>
                    <a:pt x="3987617" y="1304821"/>
                    <a:pt x="3982730" y="1309708"/>
                  </a:cubicBezTo>
                  <a:cubicBezTo>
                    <a:pt x="3977842" y="1314596"/>
                    <a:pt x="3971214" y="1317341"/>
                    <a:pt x="3964302" y="1317341"/>
                  </a:cubicBezTo>
                  <a:lnTo>
                    <a:pt x="26060" y="1317341"/>
                  </a:lnTo>
                  <a:cubicBezTo>
                    <a:pt x="19149" y="1317341"/>
                    <a:pt x="12520" y="1314596"/>
                    <a:pt x="7633" y="1309708"/>
                  </a:cubicBezTo>
                  <a:cubicBezTo>
                    <a:pt x="2746" y="1304821"/>
                    <a:pt x="0" y="1298193"/>
                    <a:pt x="0" y="1291281"/>
                  </a:cubicBezTo>
                  <a:lnTo>
                    <a:pt x="0" y="26060"/>
                  </a:lnTo>
                  <a:cubicBezTo>
                    <a:pt x="0" y="19149"/>
                    <a:pt x="2746" y="12520"/>
                    <a:pt x="7633" y="7633"/>
                  </a:cubicBezTo>
                  <a:cubicBezTo>
                    <a:pt x="12520" y="2746"/>
                    <a:pt x="19149" y="0"/>
                    <a:pt x="260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990363" cy="1355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378852" y="2795613"/>
            <a:ext cx="13909477" cy="455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MntWines: Total pengeluaran pelanggan untuk membeli produk wine.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MntFruits: Total pengeluaran pelanggan untuk membeli buah.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MntMeatProducts: Total pengeluaran pelanggan untuk membeli produk daging.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MntFishProducts: Total pengeluaran pelanggan untuk membeli produk ikan.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MntSweetProducts: Total pengeluaran pelanggan untuk membeli makanan manis.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MntGoldProds: Total pengeluaran pelanggan untuk membeli produk emas.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NumDealsPurchases: Jumlah pembelian yang dilakukan pelanggan menggunakan promo atau diskon.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NumWebPurchases: Jumlah pembelian yang dilakukan melalui website.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NumCatalogPurchases: Jumlah pembelian yang dilakukan melalui katalog.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NumStorePurchases: Jumlah pembelian yang dilakukan secara langsung di toko.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NumWebVisitsMonth: Jumlah kunjungan pelanggan ke website setiap bulan.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456346" y="517854"/>
            <a:ext cx="7375308" cy="91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3"/>
              </a:lnSpc>
              <a:spcBef>
                <a:spcPct val="0"/>
              </a:spcBef>
            </a:pPr>
            <a:r>
              <a:rPr lang="en-US" b="true" sz="5352">
                <a:solidFill>
                  <a:srgbClr val="FFE6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DAFTAR FITUR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71524" y="2432997"/>
            <a:ext cx="15150908" cy="6441966"/>
            <a:chOff x="0" y="0"/>
            <a:chExt cx="3990363" cy="1696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90363" cy="1696649"/>
            </a:xfrm>
            <a:custGeom>
              <a:avLst/>
              <a:gdLst/>
              <a:ahLst/>
              <a:cxnLst/>
              <a:rect r="r" b="b" t="t" l="l"/>
              <a:pathLst>
                <a:path h="1696649" w="3990363">
                  <a:moveTo>
                    <a:pt x="26060" y="0"/>
                  </a:moveTo>
                  <a:lnTo>
                    <a:pt x="3964302" y="0"/>
                  </a:lnTo>
                  <a:cubicBezTo>
                    <a:pt x="3971214" y="0"/>
                    <a:pt x="3977842" y="2746"/>
                    <a:pt x="3982730" y="7633"/>
                  </a:cubicBezTo>
                  <a:cubicBezTo>
                    <a:pt x="3987617" y="12520"/>
                    <a:pt x="3990363" y="19149"/>
                    <a:pt x="3990363" y="26060"/>
                  </a:cubicBezTo>
                  <a:lnTo>
                    <a:pt x="3990363" y="1670589"/>
                  </a:lnTo>
                  <a:cubicBezTo>
                    <a:pt x="3990363" y="1677501"/>
                    <a:pt x="3987617" y="1684129"/>
                    <a:pt x="3982730" y="1689016"/>
                  </a:cubicBezTo>
                  <a:cubicBezTo>
                    <a:pt x="3977842" y="1693904"/>
                    <a:pt x="3971214" y="1696649"/>
                    <a:pt x="3964302" y="1696649"/>
                  </a:cubicBezTo>
                  <a:lnTo>
                    <a:pt x="26060" y="1696649"/>
                  </a:lnTo>
                  <a:cubicBezTo>
                    <a:pt x="19149" y="1696649"/>
                    <a:pt x="12520" y="1693904"/>
                    <a:pt x="7633" y="1689016"/>
                  </a:cubicBezTo>
                  <a:cubicBezTo>
                    <a:pt x="2746" y="1684129"/>
                    <a:pt x="0" y="1677501"/>
                    <a:pt x="0" y="1670589"/>
                  </a:cubicBezTo>
                  <a:lnTo>
                    <a:pt x="0" y="26060"/>
                  </a:lnTo>
                  <a:cubicBezTo>
                    <a:pt x="0" y="19149"/>
                    <a:pt x="2746" y="12520"/>
                    <a:pt x="7633" y="7633"/>
                  </a:cubicBezTo>
                  <a:cubicBezTo>
                    <a:pt x="12520" y="2746"/>
                    <a:pt x="19149" y="0"/>
                    <a:pt x="260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990363" cy="1734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63751" y="2795613"/>
            <a:ext cx="14243580" cy="607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AcceptedCmp3: Menunjukkan apakah pelanggan menerima kampanye pemasaran ke-3 (1 = ya, 0 = tidak).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AcceptedCmp4: Menunjukkan apakah pelanggan menerima kampanye pemasaran ke-4 (1 = ya, 0 = tidak).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AcceptedCmp5: Menunjukkan apakah pelanggan menerima kampanye pemasaran ke-5 (1 = ya, 0 = tidak).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AcceptedCmp1: Menunjukkan apakah pelanggan menerima kampanye pemasaran ke-1 (1 = ya, 0 = tidak).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AcceptedCmp2: Menunjukkan apakah pelanggan menerima kampanye pemasaran ke-2 (1 = ya, 0 = tidak).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Complain: Menunjukkan apakah pelanggan pernah mengajukan keluhan (1 = ya, 0 = tidak).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Z_CostContact: Nilai biaya yang digunakan sebagai biaya kontak pelanggan dan nilainya tetap.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Z_Revenue: Nilai pendapatan yang digunakan dalam kampanye dan nilainya tetap.</a:t>
            </a:r>
          </a:p>
          <a:p>
            <a:pPr algn="l" marL="465372" indent="-232686" lvl="1">
              <a:lnSpc>
                <a:spcPts val="3017"/>
              </a:lnSpc>
              <a:buFont typeface="Arial"/>
              <a:buChar char="•"/>
            </a:pPr>
            <a:r>
              <a:rPr lang="en-US" b="true" sz="2155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Response: Menunjukkan apakah pelanggan memberikan respons terhadap kampanye pemasaran (1 = ya, 0 = tidak).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456346" y="517854"/>
            <a:ext cx="7375308" cy="91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3"/>
              </a:lnSpc>
              <a:spcBef>
                <a:spcPct val="0"/>
              </a:spcBef>
            </a:pPr>
            <a:r>
              <a:rPr lang="en-US" b="true" sz="5352">
                <a:solidFill>
                  <a:srgbClr val="FFE6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DAFTAR FITUR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Rumusan Masalah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58136" y="2758484"/>
            <a:ext cx="15143175" cy="1453064"/>
            <a:chOff x="0" y="0"/>
            <a:chExt cx="3988326" cy="382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88326" cy="382700"/>
            </a:xfrm>
            <a:custGeom>
              <a:avLst/>
              <a:gdLst/>
              <a:ahLst/>
              <a:cxnLst/>
              <a:rect r="r" b="b" t="t" l="l"/>
              <a:pathLst>
                <a:path h="382700" w="3988326">
                  <a:moveTo>
                    <a:pt x="26074" y="0"/>
                  </a:moveTo>
                  <a:lnTo>
                    <a:pt x="3962252" y="0"/>
                  </a:lnTo>
                  <a:cubicBezTo>
                    <a:pt x="3969167" y="0"/>
                    <a:pt x="3975800" y="2747"/>
                    <a:pt x="3980689" y="7637"/>
                  </a:cubicBezTo>
                  <a:cubicBezTo>
                    <a:pt x="3985579" y="12527"/>
                    <a:pt x="3988326" y="19158"/>
                    <a:pt x="3988326" y="26074"/>
                  </a:cubicBezTo>
                  <a:lnTo>
                    <a:pt x="3988326" y="356626"/>
                  </a:lnTo>
                  <a:cubicBezTo>
                    <a:pt x="3988326" y="363541"/>
                    <a:pt x="3985579" y="370173"/>
                    <a:pt x="3980689" y="375063"/>
                  </a:cubicBezTo>
                  <a:cubicBezTo>
                    <a:pt x="3975800" y="379953"/>
                    <a:pt x="3969167" y="382700"/>
                    <a:pt x="3962252" y="382700"/>
                  </a:cubicBezTo>
                  <a:lnTo>
                    <a:pt x="26074" y="382700"/>
                  </a:lnTo>
                  <a:cubicBezTo>
                    <a:pt x="19158" y="382700"/>
                    <a:pt x="12527" y="379953"/>
                    <a:pt x="7637" y="375063"/>
                  </a:cubicBezTo>
                  <a:cubicBezTo>
                    <a:pt x="2747" y="370173"/>
                    <a:pt x="0" y="363541"/>
                    <a:pt x="0" y="356626"/>
                  </a:cubicBezTo>
                  <a:lnTo>
                    <a:pt x="0" y="26074"/>
                  </a:lnTo>
                  <a:cubicBezTo>
                    <a:pt x="0" y="19158"/>
                    <a:pt x="2747" y="12527"/>
                    <a:pt x="7637" y="7637"/>
                  </a:cubicBezTo>
                  <a:cubicBezTo>
                    <a:pt x="12527" y="2747"/>
                    <a:pt x="19158" y="0"/>
                    <a:pt x="260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988326" cy="42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58136" y="5999575"/>
            <a:ext cx="13835956" cy="1408137"/>
            <a:chOff x="0" y="0"/>
            <a:chExt cx="3644038" cy="3708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44038" cy="370867"/>
            </a:xfrm>
            <a:custGeom>
              <a:avLst/>
              <a:gdLst/>
              <a:ahLst/>
              <a:cxnLst/>
              <a:rect r="r" b="b" t="t" l="l"/>
              <a:pathLst>
                <a:path h="370867" w="3644038">
                  <a:moveTo>
                    <a:pt x="28537" y="0"/>
                  </a:moveTo>
                  <a:lnTo>
                    <a:pt x="3615501" y="0"/>
                  </a:lnTo>
                  <a:cubicBezTo>
                    <a:pt x="3623070" y="0"/>
                    <a:pt x="3630328" y="3007"/>
                    <a:pt x="3635680" y="8358"/>
                  </a:cubicBezTo>
                  <a:cubicBezTo>
                    <a:pt x="3641032" y="13710"/>
                    <a:pt x="3644038" y="20969"/>
                    <a:pt x="3644038" y="28537"/>
                  </a:cubicBezTo>
                  <a:lnTo>
                    <a:pt x="3644038" y="342330"/>
                  </a:lnTo>
                  <a:cubicBezTo>
                    <a:pt x="3644038" y="349899"/>
                    <a:pt x="3641032" y="357157"/>
                    <a:pt x="3635680" y="362509"/>
                  </a:cubicBezTo>
                  <a:cubicBezTo>
                    <a:pt x="3630328" y="367861"/>
                    <a:pt x="3623070" y="370867"/>
                    <a:pt x="3615501" y="370867"/>
                  </a:cubicBezTo>
                  <a:lnTo>
                    <a:pt x="28537" y="370867"/>
                  </a:lnTo>
                  <a:cubicBezTo>
                    <a:pt x="20969" y="370867"/>
                    <a:pt x="13710" y="367861"/>
                    <a:pt x="8358" y="362509"/>
                  </a:cubicBezTo>
                  <a:cubicBezTo>
                    <a:pt x="3007" y="357157"/>
                    <a:pt x="0" y="349899"/>
                    <a:pt x="0" y="342330"/>
                  </a:cubicBezTo>
                  <a:lnTo>
                    <a:pt x="0" y="28537"/>
                  </a:lnTo>
                  <a:cubicBezTo>
                    <a:pt x="0" y="20969"/>
                    <a:pt x="3007" y="13710"/>
                    <a:pt x="8358" y="8358"/>
                  </a:cubicBezTo>
                  <a:cubicBezTo>
                    <a:pt x="13710" y="3007"/>
                    <a:pt x="20969" y="0"/>
                    <a:pt x="28537" y="0"/>
                  </a:cubicBezTo>
                  <a:close/>
                </a:path>
              </a:pathLst>
            </a:custGeom>
            <a:solidFill>
              <a:srgbClr val="CDD6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44038" cy="408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58136" y="4451613"/>
            <a:ext cx="14414296" cy="1318719"/>
            <a:chOff x="0" y="0"/>
            <a:chExt cx="3796358" cy="3473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96358" cy="347317"/>
            </a:xfrm>
            <a:custGeom>
              <a:avLst/>
              <a:gdLst/>
              <a:ahLst/>
              <a:cxnLst/>
              <a:rect r="r" b="b" t="t" l="l"/>
              <a:pathLst>
                <a:path h="347317" w="3796358">
                  <a:moveTo>
                    <a:pt x="27392" y="0"/>
                  </a:moveTo>
                  <a:lnTo>
                    <a:pt x="3768966" y="0"/>
                  </a:lnTo>
                  <a:cubicBezTo>
                    <a:pt x="3776230" y="0"/>
                    <a:pt x="3783198" y="2886"/>
                    <a:pt x="3788335" y="8023"/>
                  </a:cubicBezTo>
                  <a:cubicBezTo>
                    <a:pt x="3793472" y="13160"/>
                    <a:pt x="3796358" y="20127"/>
                    <a:pt x="3796358" y="27392"/>
                  </a:cubicBezTo>
                  <a:lnTo>
                    <a:pt x="3796358" y="319925"/>
                  </a:lnTo>
                  <a:cubicBezTo>
                    <a:pt x="3796358" y="335053"/>
                    <a:pt x="3784094" y="347317"/>
                    <a:pt x="3768966" y="347317"/>
                  </a:cubicBezTo>
                  <a:lnTo>
                    <a:pt x="27392" y="347317"/>
                  </a:lnTo>
                  <a:cubicBezTo>
                    <a:pt x="20127" y="347317"/>
                    <a:pt x="13160" y="344431"/>
                    <a:pt x="8023" y="339294"/>
                  </a:cubicBezTo>
                  <a:cubicBezTo>
                    <a:pt x="2886" y="334157"/>
                    <a:pt x="0" y="327190"/>
                    <a:pt x="0" y="319925"/>
                  </a:cubicBezTo>
                  <a:lnTo>
                    <a:pt x="0" y="27392"/>
                  </a:lnTo>
                  <a:cubicBezTo>
                    <a:pt x="0" y="20127"/>
                    <a:pt x="2886" y="13160"/>
                    <a:pt x="8023" y="8023"/>
                  </a:cubicBezTo>
                  <a:cubicBezTo>
                    <a:pt x="13160" y="2886"/>
                    <a:pt x="20127" y="0"/>
                    <a:pt x="2739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796358" cy="385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347439" y="2954928"/>
            <a:ext cx="13591213" cy="416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1. Gimana cara mengelompokkan pelanggan berdasarkan profil </a:t>
            </a:r>
          </a:p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  dan kebiasaan belanja mereka?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2. Dari beberapa algoritma clustering, model mana yang paling cocok </a:t>
            </a:r>
          </a:p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  dan berapa jumlah cluster yang ideal?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3. Apa ciri khas masing-masing segmen, dan strategi marketing </a:t>
            </a:r>
          </a:p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  apa yang paling pas untuk tiap kelompok?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Solusi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24000" y="3907353"/>
            <a:ext cx="15022802" cy="3080183"/>
            <a:chOff x="0" y="0"/>
            <a:chExt cx="3956623" cy="8112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56623" cy="811242"/>
            </a:xfrm>
            <a:custGeom>
              <a:avLst/>
              <a:gdLst/>
              <a:ahLst/>
              <a:cxnLst/>
              <a:rect r="r" b="b" t="t" l="l"/>
              <a:pathLst>
                <a:path h="811242" w="3956623">
                  <a:moveTo>
                    <a:pt x="26283" y="0"/>
                  </a:moveTo>
                  <a:lnTo>
                    <a:pt x="3930340" y="0"/>
                  </a:lnTo>
                  <a:cubicBezTo>
                    <a:pt x="3937311" y="0"/>
                    <a:pt x="3943996" y="2769"/>
                    <a:pt x="3948925" y="7698"/>
                  </a:cubicBezTo>
                  <a:cubicBezTo>
                    <a:pt x="3953854" y="12627"/>
                    <a:pt x="3956623" y="19312"/>
                    <a:pt x="3956623" y="26283"/>
                  </a:cubicBezTo>
                  <a:lnTo>
                    <a:pt x="3956623" y="784959"/>
                  </a:lnTo>
                  <a:cubicBezTo>
                    <a:pt x="3956623" y="791930"/>
                    <a:pt x="3953854" y="798615"/>
                    <a:pt x="3948925" y="803544"/>
                  </a:cubicBezTo>
                  <a:cubicBezTo>
                    <a:pt x="3943996" y="808473"/>
                    <a:pt x="3937311" y="811242"/>
                    <a:pt x="3930340" y="811242"/>
                  </a:cubicBezTo>
                  <a:lnTo>
                    <a:pt x="26283" y="811242"/>
                  </a:lnTo>
                  <a:cubicBezTo>
                    <a:pt x="19312" y="811242"/>
                    <a:pt x="12627" y="808473"/>
                    <a:pt x="7698" y="803544"/>
                  </a:cubicBezTo>
                  <a:cubicBezTo>
                    <a:pt x="2769" y="798615"/>
                    <a:pt x="0" y="791930"/>
                    <a:pt x="0" y="784959"/>
                  </a:cubicBezTo>
                  <a:lnTo>
                    <a:pt x="0" y="26283"/>
                  </a:lnTo>
                  <a:cubicBezTo>
                    <a:pt x="0" y="19312"/>
                    <a:pt x="2769" y="12627"/>
                    <a:pt x="7698" y="7698"/>
                  </a:cubicBezTo>
                  <a:cubicBezTo>
                    <a:pt x="12627" y="2769"/>
                    <a:pt x="19312" y="0"/>
                    <a:pt x="26283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956623" cy="849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4000" y="2347463"/>
            <a:ext cx="15022802" cy="1330157"/>
            <a:chOff x="0" y="0"/>
            <a:chExt cx="3956623" cy="3503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56623" cy="350330"/>
            </a:xfrm>
            <a:custGeom>
              <a:avLst/>
              <a:gdLst/>
              <a:ahLst/>
              <a:cxnLst/>
              <a:rect r="r" b="b" t="t" l="l"/>
              <a:pathLst>
                <a:path h="350330" w="3956623">
                  <a:moveTo>
                    <a:pt x="26283" y="0"/>
                  </a:moveTo>
                  <a:lnTo>
                    <a:pt x="3930340" y="0"/>
                  </a:lnTo>
                  <a:cubicBezTo>
                    <a:pt x="3937311" y="0"/>
                    <a:pt x="3943996" y="2769"/>
                    <a:pt x="3948925" y="7698"/>
                  </a:cubicBezTo>
                  <a:cubicBezTo>
                    <a:pt x="3953854" y="12627"/>
                    <a:pt x="3956623" y="19312"/>
                    <a:pt x="3956623" y="26283"/>
                  </a:cubicBezTo>
                  <a:lnTo>
                    <a:pt x="3956623" y="324047"/>
                  </a:lnTo>
                  <a:cubicBezTo>
                    <a:pt x="3956623" y="331018"/>
                    <a:pt x="3953854" y="337703"/>
                    <a:pt x="3948925" y="342632"/>
                  </a:cubicBezTo>
                  <a:cubicBezTo>
                    <a:pt x="3943996" y="347560"/>
                    <a:pt x="3937311" y="350330"/>
                    <a:pt x="3930340" y="350330"/>
                  </a:cubicBezTo>
                  <a:lnTo>
                    <a:pt x="26283" y="350330"/>
                  </a:lnTo>
                  <a:cubicBezTo>
                    <a:pt x="19312" y="350330"/>
                    <a:pt x="12627" y="347560"/>
                    <a:pt x="7698" y="342632"/>
                  </a:cubicBezTo>
                  <a:cubicBezTo>
                    <a:pt x="2769" y="337703"/>
                    <a:pt x="0" y="331018"/>
                    <a:pt x="0" y="324047"/>
                  </a:cubicBezTo>
                  <a:lnTo>
                    <a:pt x="0" y="26283"/>
                  </a:lnTo>
                  <a:cubicBezTo>
                    <a:pt x="0" y="19312"/>
                    <a:pt x="2769" y="12627"/>
                    <a:pt x="7698" y="7698"/>
                  </a:cubicBezTo>
                  <a:cubicBezTo>
                    <a:pt x="12627" y="2769"/>
                    <a:pt x="19312" y="0"/>
                    <a:pt x="262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956623" cy="388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96458" y="2374033"/>
            <a:ext cx="13335000" cy="431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Pakai teknik unsupervised learning (K-Means Clustering) untuk mengelompokkan pelanggan secara otomatis.</a:t>
            </a:r>
          </a:p>
          <a:p>
            <a:pPr algn="l">
              <a:lnSpc>
                <a:spcPts val="4349"/>
              </a:lnSpc>
            </a:pPr>
          </a:p>
          <a:p>
            <a:pPr algn="l">
              <a:lnSpc>
                <a:spcPts val="4349"/>
              </a:lnSpc>
            </a:pPr>
            <a:r>
              <a:rPr lang="en-US" sz="28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Langkah-langkahnya:</a:t>
            </a:r>
          </a:p>
          <a:p>
            <a:pPr algn="l">
              <a:lnSpc>
                <a:spcPts val="4349"/>
              </a:lnSpc>
            </a:pPr>
            <a:r>
              <a:rPr lang="en-US" sz="28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1. Bersihin data &amp; bikin fitur baru yang lebih representatif</a:t>
            </a:r>
          </a:p>
          <a:p>
            <a:pPr algn="l">
              <a:lnSpc>
                <a:spcPts val="4349"/>
              </a:lnSpc>
            </a:pPr>
            <a:r>
              <a:rPr lang="en-US" sz="28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2. Standardisasi + reduksi dimensi pakai PCA</a:t>
            </a:r>
          </a:p>
          <a:p>
            <a:pPr algn="l">
              <a:lnSpc>
                <a:spcPts val="4349"/>
              </a:lnSpc>
            </a:pPr>
            <a:r>
              <a:rPr lang="en-US" sz="28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3. Bandingin 4 model di 42 kombinasi eksperimen</a:t>
            </a:r>
          </a:p>
          <a:p>
            <a:pPr algn="l">
              <a:lnSpc>
                <a:spcPts val="4349"/>
              </a:lnSpc>
            </a:pPr>
            <a:r>
              <a:rPr lang="en-US" sz="28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4. Profiling tiap cluster → persona + rekomendasi marketing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195715" y="2353381"/>
            <a:ext cx="20047106" cy="5477914"/>
            <a:chOff x="0" y="0"/>
            <a:chExt cx="5279896" cy="14427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79896" cy="1442743"/>
            </a:xfrm>
            <a:custGeom>
              <a:avLst/>
              <a:gdLst/>
              <a:ahLst/>
              <a:cxnLst/>
              <a:rect r="r" b="b" t="t" l="l"/>
              <a:pathLst>
                <a:path h="1442743" w="5279896">
                  <a:moveTo>
                    <a:pt x="30895" y="0"/>
                  </a:moveTo>
                  <a:lnTo>
                    <a:pt x="5249001" y="0"/>
                  </a:lnTo>
                  <a:cubicBezTo>
                    <a:pt x="5266064" y="0"/>
                    <a:pt x="5279896" y="13832"/>
                    <a:pt x="5279896" y="30895"/>
                  </a:cubicBezTo>
                  <a:lnTo>
                    <a:pt x="5279896" y="1411848"/>
                  </a:lnTo>
                  <a:cubicBezTo>
                    <a:pt x="5279896" y="1428911"/>
                    <a:pt x="5266064" y="1442743"/>
                    <a:pt x="5249001" y="1442743"/>
                  </a:cubicBezTo>
                  <a:lnTo>
                    <a:pt x="30895" y="1442743"/>
                  </a:lnTo>
                  <a:cubicBezTo>
                    <a:pt x="13832" y="1442743"/>
                    <a:pt x="0" y="1428911"/>
                    <a:pt x="0" y="1411848"/>
                  </a:cubicBezTo>
                  <a:lnTo>
                    <a:pt x="0" y="30895"/>
                  </a:lnTo>
                  <a:cubicBezTo>
                    <a:pt x="0" y="13832"/>
                    <a:pt x="13832" y="0"/>
                    <a:pt x="308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279896" cy="1480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666090" y="2488165"/>
            <a:ext cx="13137218" cy="502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 cleaning: hapus 24 baris income kosong, 2 kolom konstan, &amp; 4 baris anomali (umur &gt;110 th, income Rp666 juta).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Feature engineering: Age, Spent (total belanja), Purchases, Children, Family_Size, Total_Promos, dll.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Fitur yang skew di-log-transform, seluruh fitur di-standardize, lalu direduksi dengan PCA (4 komponen, ~86% variansi).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 algoritma diuji — K-Means, Agglomerative, GMM, DBSCAN — pada data Scaled vs PCA, K = 2–8, dievaluasi dengan Silhouette, Calinski-Harabasz &amp; Davies-Bouldin.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4000" y="885825"/>
            <a:ext cx="152400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DATA &amp; METODOLOGI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54601" y="3103340"/>
            <a:ext cx="8529956" cy="3400552"/>
          </a:xfrm>
          <a:custGeom>
            <a:avLst/>
            <a:gdLst/>
            <a:ahLst/>
            <a:cxnLst/>
            <a:rect r="r" b="b" t="t" l="l"/>
            <a:pathLst>
              <a:path h="3400552" w="8529956">
                <a:moveTo>
                  <a:pt x="0" y="0"/>
                </a:moveTo>
                <a:lnTo>
                  <a:pt x="8529956" y="0"/>
                </a:lnTo>
                <a:lnTo>
                  <a:pt x="8529956" y="3400552"/>
                </a:lnTo>
                <a:lnTo>
                  <a:pt x="0" y="3400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4601" y="1786985"/>
            <a:ext cx="13335000" cy="99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6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Dataset: Customer Personality Analysis dari Kaggle</a:t>
            </a:r>
          </a:p>
          <a:p>
            <a:pPr algn="l">
              <a:lnSpc>
                <a:spcPts val="4049"/>
              </a:lnSpc>
            </a:pPr>
            <a:r>
              <a:rPr lang="en-US" sz="26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Berisi data profil dan perilaku belanja pelanggan sebuah perusahaan retail.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941821" y="6827742"/>
            <a:ext cx="13547780" cy="2795013"/>
            <a:chOff x="0" y="0"/>
            <a:chExt cx="3568139" cy="7361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68140" cy="736135"/>
            </a:xfrm>
            <a:custGeom>
              <a:avLst/>
              <a:gdLst/>
              <a:ahLst/>
              <a:cxnLst/>
              <a:rect r="r" b="b" t="t" l="l"/>
              <a:pathLst>
                <a:path h="736135" w="3568140">
                  <a:moveTo>
                    <a:pt x="29144" y="0"/>
                  </a:moveTo>
                  <a:lnTo>
                    <a:pt x="3538996" y="0"/>
                  </a:lnTo>
                  <a:cubicBezTo>
                    <a:pt x="3546725" y="0"/>
                    <a:pt x="3554138" y="3071"/>
                    <a:pt x="3559603" y="8536"/>
                  </a:cubicBezTo>
                  <a:cubicBezTo>
                    <a:pt x="3565069" y="14002"/>
                    <a:pt x="3568140" y="21415"/>
                    <a:pt x="3568140" y="29144"/>
                  </a:cubicBezTo>
                  <a:lnTo>
                    <a:pt x="3568140" y="706991"/>
                  </a:lnTo>
                  <a:cubicBezTo>
                    <a:pt x="3568140" y="714720"/>
                    <a:pt x="3565069" y="722133"/>
                    <a:pt x="3559603" y="727599"/>
                  </a:cubicBezTo>
                  <a:cubicBezTo>
                    <a:pt x="3554138" y="733065"/>
                    <a:pt x="3546725" y="736135"/>
                    <a:pt x="3538996" y="736135"/>
                  </a:cubicBezTo>
                  <a:lnTo>
                    <a:pt x="29144" y="736135"/>
                  </a:lnTo>
                  <a:cubicBezTo>
                    <a:pt x="21415" y="736135"/>
                    <a:pt x="14002" y="733065"/>
                    <a:pt x="8536" y="727599"/>
                  </a:cubicBezTo>
                  <a:cubicBezTo>
                    <a:pt x="3071" y="722133"/>
                    <a:pt x="0" y="714720"/>
                    <a:pt x="0" y="70699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CDD6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568139" cy="774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154601" y="6974742"/>
            <a:ext cx="11989882" cy="240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2561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Fitur terbagi jadi 4 kategori:</a:t>
            </a:r>
          </a:p>
          <a:p>
            <a:pPr algn="l">
              <a:lnSpc>
                <a:spcPts val="3842"/>
              </a:lnSpc>
            </a:pPr>
            <a:r>
              <a:rPr lang="en-US" sz="2561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- Profil — umur, pendidikan, status, income, jumlah anak</a:t>
            </a:r>
          </a:p>
          <a:p>
            <a:pPr algn="l">
              <a:lnSpc>
                <a:spcPts val="3842"/>
              </a:lnSpc>
            </a:pPr>
            <a:r>
              <a:rPr lang="en-US" sz="2561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- Belanja — spending di 6 kategori produk (wine, daging, buah, dll)</a:t>
            </a:r>
          </a:p>
          <a:p>
            <a:pPr algn="l">
              <a:lnSpc>
                <a:spcPts val="3842"/>
              </a:lnSpc>
            </a:pPr>
            <a:r>
              <a:rPr lang="en-US" sz="2561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- Promosi — respons terhadap 5 kampanye + pembelian pakai diskon</a:t>
            </a:r>
          </a:p>
          <a:p>
            <a:pPr algn="l">
              <a:lnSpc>
                <a:spcPts val="3842"/>
              </a:lnSpc>
            </a:pPr>
            <a:r>
              <a:rPr lang="en-US" sz="2561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- Channel — pembelian via web, katalog, dan toko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72001" y="2535052"/>
            <a:ext cx="8176067" cy="3355337"/>
          </a:xfrm>
          <a:custGeom>
            <a:avLst/>
            <a:gdLst/>
            <a:ahLst/>
            <a:cxnLst/>
            <a:rect r="r" b="b" t="t" l="l"/>
            <a:pathLst>
              <a:path h="3355337" w="8176067">
                <a:moveTo>
                  <a:pt x="0" y="0"/>
                </a:moveTo>
                <a:lnTo>
                  <a:pt x="8176068" y="0"/>
                </a:lnTo>
                <a:lnTo>
                  <a:pt x="8176068" y="3355338"/>
                </a:lnTo>
                <a:lnTo>
                  <a:pt x="0" y="3355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Metode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72001" y="1826352"/>
            <a:ext cx="13335000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699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A. Feature Engineering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807862" y="7406392"/>
            <a:ext cx="14402449" cy="2196638"/>
            <a:chOff x="0" y="0"/>
            <a:chExt cx="3793238" cy="57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93237" cy="578538"/>
            </a:xfrm>
            <a:custGeom>
              <a:avLst/>
              <a:gdLst/>
              <a:ahLst/>
              <a:cxnLst/>
              <a:rect r="r" b="b" t="t" l="l"/>
              <a:pathLst>
                <a:path h="578538" w="3793237">
                  <a:moveTo>
                    <a:pt x="27415" y="0"/>
                  </a:moveTo>
                  <a:lnTo>
                    <a:pt x="3765823" y="0"/>
                  </a:lnTo>
                  <a:cubicBezTo>
                    <a:pt x="3773094" y="0"/>
                    <a:pt x="3780067" y="2888"/>
                    <a:pt x="3785208" y="8030"/>
                  </a:cubicBezTo>
                  <a:cubicBezTo>
                    <a:pt x="3790349" y="13171"/>
                    <a:pt x="3793237" y="20144"/>
                    <a:pt x="3793237" y="27415"/>
                  </a:cubicBezTo>
                  <a:lnTo>
                    <a:pt x="3793237" y="551124"/>
                  </a:lnTo>
                  <a:cubicBezTo>
                    <a:pt x="3793237" y="566265"/>
                    <a:pt x="3780963" y="578538"/>
                    <a:pt x="3765823" y="578538"/>
                  </a:cubicBezTo>
                  <a:lnTo>
                    <a:pt x="27415" y="578538"/>
                  </a:lnTo>
                  <a:cubicBezTo>
                    <a:pt x="20144" y="578538"/>
                    <a:pt x="13171" y="575650"/>
                    <a:pt x="8030" y="570509"/>
                  </a:cubicBezTo>
                  <a:cubicBezTo>
                    <a:pt x="2888" y="565368"/>
                    <a:pt x="0" y="558395"/>
                    <a:pt x="0" y="551124"/>
                  </a:cubicBezTo>
                  <a:lnTo>
                    <a:pt x="0" y="27415"/>
                  </a:lnTo>
                  <a:cubicBezTo>
                    <a:pt x="0" y="12274"/>
                    <a:pt x="12274" y="0"/>
                    <a:pt x="27415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793238" cy="616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172001" y="7454265"/>
            <a:ext cx="13525884" cy="18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Preprocessing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- Log transform untuk fitur yang distribusinya miring (Spent, NumDealsPurchases, dll)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- StandardScaler biar semua fitur di skala yang sama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-</a:t>
            </a:r>
            <a:r>
              <a:rPr lang="en-US" sz="2400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PC</a:t>
            </a:r>
            <a:r>
              <a:rPr lang="en-US" sz="2400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A (4 komponen, ~86% variansi) — mengurangi noise dan korelasi antar-fitur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807862" y="6099940"/>
            <a:ext cx="14402449" cy="1093264"/>
            <a:chOff x="0" y="0"/>
            <a:chExt cx="3793238" cy="2879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93237" cy="287938"/>
            </a:xfrm>
            <a:custGeom>
              <a:avLst/>
              <a:gdLst/>
              <a:ahLst/>
              <a:cxnLst/>
              <a:rect r="r" b="b" t="t" l="l"/>
              <a:pathLst>
                <a:path h="287938" w="3793237">
                  <a:moveTo>
                    <a:pt x="27415" y="0"/>
                  </a:moveTo>
                  <a:lnTo>
                    <a:pt x="3765823" y="0"/>
                  </a:lnTo>
                  <a:cubicBezTo>
                    <a:pt x="3773094" y="0"/>
                    <a:pt x="3780067" y="2888"/>
                    <a:pt x="3785208" y="8030"/>
                  </a:cubicBezTo>
                  <a:cubicBezTo>
                    <a:pt x="3790349" y="13171"/>
                    <a:pt x="3793237" y="20144"/>
                    <a:pt x="3793237" y="27415"/>
                  </a:cubicBezTo>
                  <a:lnTo>
                    <a:pt x="3793237" y="260523"/>
                  </a:lnTo>
                  <a:cubicBezTo>
                    <a:pt x="3793237" y="275664"/>
                    <a:pt x="3780963" y="287938"/>
                    <a:pt x="3765823" y="287938"/>
                  </a:cubicBezTo>
                  <a:lnTo>
                    <a:pt x="27415" y="287938"/>
                  </a:lnTo>
                  <a:cubicBezTo>
                    <a:pt x="12274" y="287938"/>
                    <a:pt x="0" y="275664"/>
                    <a:pt x="0" y="260523"/>
                  </a:cubicBezTo>
                  <a:lnTo>
                    <a:pt x="0" y="27415"/>
                  </a:lnTo>
                  <a:cubicBezTo>
                    <a:pt x="0" y="12274"/>
                    <a:pt x="12274" y="0"/>
                    <a:pt x="27415" y="0"/>
                  </a:cubicBezTo>
                  <a:close/>
                </a:path>
              </a:pathLst>
            </a:custGeom>
            <a:solidFill>
              <a:srgbClr val="CDD6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793238" cy="32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72001" y="6111409"/>
            <a:ext cx="13525884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Dari</a:t>
            </a:r>
            <a:r>
              <a:rPr lang="en-US" sz="2400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29 kolom asli, kita bikin 8 fitur baru yang lebih merangkum perilaku pelanggan — kayak total belanja (Spent), jumlah anak (Children), ukuran keluarga, dan lama jadi pelanggan.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Metode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32599" y="5210171"/>
            <a:ext cx="14702536" cy="2481951"/>
            <a:chOff x="0" y="0"/>
            <a:chExt cx="3872273" cy="6536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72273" cy="653683"/>
            </a:xfrm>
            <a:custGeom>
              <a:avLst/>
              <a:gdLst/>
              <a:ahLst/>
              <a:cxnLst/>
              <a:rect r="r" b="b" t="t" l="l"/>
              <a:pathLst>
                <a:path h="653683" w="3872273">
                  <a:moveTo>
                    <a:pt x="26855" y="0"/>
                  </a:moveTo>
                  <a:lnTo>
                    <a:pt x="3845418" y="0"/>
                  </a:lnTo>
                  <a:cubicBezTo>
                    <a:pt x="3852540" y="0"/>
                    <a:pt x="3859371" y="2829"/>
                    <a:pt x="3864407" y="7866"/>
                  </a:cubicBezTo>
                  <a:cubicBezTo>
                    <a:pt x="3869443" y="12902"/>
                    <a:pt x="3872273" y="19733"/>
                    <a:pt x="3872273" y="26855"/>
                  </a:cubicBezTo>
                  <a:lnTo>
                    <a:pt x="3872273" y="626827"/>
                  </a:lnTo>
                  <a:cubicBezTo>
                    <a:pt x="3872273" y="633950"/>
                    <a:pt x="3869443" y="640781"/>
                    <a:pt x="3864407" y="645817"/>
                  </a:cubicBezTo>
                  <a:cubicBezTo>
                    <a:pt x="3859371" y="650853"/>
                    <a:pt x="3852540" y="653683"/>
                    <a:pt x="3845418" y="653683"/>
                  </a:cubicBezTo>
                  <a:lnTo>
                    <a:pt x="26855" y="653683"/>
                  </a:lnTo>
                  <a:cubicBezTo>
                    <a:pt x="19733" y="653683"/>
                    <a:pt x="12902" y="650853"/>
                    <a:pt x="7866" y="645817"/>
                  </a:cubicBezTo>
                  <a:cubicBezTo>
                    <a:pt x="2829" y="640781"/>
                    <a:pt x="0" y="633950"/>
                    <a:pt x="0" y="626827"/>
                  </a:cubicBezTo>
                  <a:lnTo>
                    <a:pt x="0" y="26855"/>
                  </a:lnTo>
                  <a:cubicBezTo>
                    <a:pt x="0" y="19733"/>
                    <a:pt x="2829" y="12902"/>
                    <a:pt x="7866" y="7866"/>
                  </a:cubicBezTo>
                  <a:cubicBezTo>
                    <a:pt x="12902" y="2829"/>
                    <a:pt x="19733" y="0"/>
                    <a:pt x="26855" y="0"/>
                  </a:cubicBezTo>
                  <a:close/>
                </a:path>
              </a:pathLst>
            </a:custGeom>
            <a:solidFill>
              <a:srgbClr val="CDD6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72273" cy="691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4000" y="1861149"/>
            <a:ext cx="13613631" cy="2852417"/>
            <a:chOff x="0" y="0"/>
            <a:chExt cx="3585483" cy="7512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85483" cy="751254"/>
            </a:xfrm>
            <a:custGeom>
              <a:avLst/>
              <a:gdLst/>
              <a:ahLst/>
              <a:cxnLst/>
              <a:rect r="r" b="b" t="t" l="l"/>
              <a:pathLst>
                <a:path h="751254" w="3585483">
                  <a:moveTo>
                    <a:pt x="29003" y="0"/>
                  </a:moveTo>
                  <a:lnTo>
                    <a:pt x="3556480" y="0"/>
                  </a:lnTo>
                  <a:cubicBezTo>
                    <a:pt x="3564172" y="0"/>
                    <a:pt x="3571549" y="3056"/>
                    <a:pt x="3576988" y="8495"/>
                  </a:cubicBezTo>
                  <a:cubicBezTo>
                    <a:pt x="3582427" y="13934"/>
                    <a:pt x="3585483" y="21311"/>
                    <a:pt x="3585483" y="29003"/>
                  </a:cubicBezTo>
                  <a:lnTo>
                    <a:pt x="3585483" y="722251"/>
                  </a:lnTo>
                  <a:cubicBezTo>
                    <a:pt x="3585483" y="738269"/>
                    <a:pt x="3572498" y="751254"/>
                    <a:pt x="3556480" y="751254"/>
                  </a:cubicBezTo>
                  <a:lnTo>
                    <a:pt x="29003" y="751254"/>
                  </a:lnTo>
                  <a:cubicBezTo>
                    <a:pt x="12985" y="751254"/>
                    <a:pt x="0" y="738269"/>
                    <a:pt x="0" y="722251"/>
                  </a:cubicBezTo>
                  <a:lnTo>
                    <a:pt x="0" y="29003"/>
                  </a:lnTo>
                  <a:cubicBezTo>
                    <a:pt x="0" y="12985"/>
                    <a:pt x="12985" y="0"/>
                    <a:pt x="29003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585483" cy="789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024456" y="1977109"/>
            <a:ext cx="13113174" cy="539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2853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4 algoritma diuji dengan pendekatan yang beda:</a:t>
            </a:r>
          </a:p>
          <a:p>
            <a:pPr algn="l" marL="616170" indent="-308085" lvl="1">
              <a:lnSpc>
                <a:spcPts val="4280"/>
              </a:lnSpc>
              <a:buFont typeface="Arial"/>
              <a:buChar char="•"/>
            </a:pPr>
            <a:r>
              <a:rPr lang="en-US" b="true" sz="2853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K-Means — partisi berdasarkan jarak ke centroid</a:t>
            </a:r>
          </a:p>
          <a:p>
            <a:pPr algn="l" marL="616170" indent="-308085" lvl="1">
              <a:lnSpc>
                <a:spcPts val="4280"/>
              </a:lnSpc>
              <a:buFont typeface="Arial"/>
              <a:buChar char="•"/>
            </a:pPr>
            <a:r>
              <a:rPr lang="en-US" b="true" sz="2853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Agglomerative — hierarchical, bottom-up</a:t>
            </a:r>
          </a:p>
          <a:p>
            <a:pPr algn="l" marL="616170" indent="-308085" lvl="1">
              <a:lnSpc>
                <a:spcPts val="4280"/>
              </a:lnSpc>
              <a:buFont typeface="Arial"/>
              <a:buChar char="•"/>
            </a:pPr>
            <a:r>
              <a:rPr lang="en-US" b="true" sz="2853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GMM — probabilistik, berbasis distribusi Gaussian</a:t>
            </a:r>
          </a:p>
          <a:p>
            <a:pPr algn="l" marL="616170" indent="-308085" lvl="1">
              <a:lnSpc>
                <a:spcPts val="4280"/>
              </a:lnSpc>
              <a:buFont typeface="Arial"/>
              <a:buChar char="•"/>
            </a:pPr>
            <a:r>
              <a:rPr lang="en-US" b="true" sz="2853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DBSCAN — berbasis kepadatan data</a:t>
            </a:r>
          </a:p>
          <a:p>
            <a:pPr algn="l">
              <a:lnSpc>
                <a:spcPts val="4280"/>
              </a:lnSpc>
            </a:pPr>
          </a:p>
          <a:p>
            <a:pPr algn="l">
              <a:lnSpc>
                <a:spcPts val="4280"/>
              </a:lnSpc>
            </a:pPr>
            <a:r>
              <a:rPr lang="en-US" sz="2853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Evaluasi pakai 3 metrik:</a:t>
            </a:r>
          </a:p>
          <a:p>
            <a:pPr algn="l" marL="616170" indent="-308085" lvl="1">
              <a:lnSpc>
                <a:spcPts val="4280"/>
              </a:lnSpc>
              <a:buFont typeface="Arial"/>
              <a:buChar char="•"/>
            </a:pPr>
            <a:r>
              <a:rPr lang="en-US" b="true" sz="2853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Silhouette Score — seberapa rapat &amp; terpisah cluster (-1 s/d 1)</a:t>
            </a:r>
          </a:p>
          <a:p>
            <a:pPr algn="l" marL="616170" indent="-308085" lvl="1">
              <a:lnSpc>
                <a:spcPts val="4280"/>
              </a:lnSpc>
              <a:buFont typeface="Arial"/>
              <a:buChar char="•"/>
            </a:pPr>
            <a:r>
              <a:rPr lang="en-US" b="true" sz="2853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Calinski-Harabasz — rasio sebaran antar vs dalam cluster</a:t>
            </a:r>
          </a:p>
          <a:p>
            <a:pPr algn="l" marL="616170" indent="-308085" lvl="1">
              <a:lnSpc>
                <a:spcPts val="4280"/>
              </a:lnSpc>
              <a:buFont typeface="Arial"/>
              <a:buChar char="•"/>
            </a:pPr>
            <a:r>
              <a:rPr lang="en-US" b="true" sz="2853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Davies-Bouldin — kemiripan antar-cluster (makin kecil makin bagus)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2500557"/>
            <a:ext cx="7107304" cy="6163921"/>
          </a:xfrm>
          <a:custGeom>
            <a:avLst/>
            <a:gdLst/>
            <a:ahLst/>
            <a:cxnLst/>
            <a:rect r="r" b="b" t="t" l="l"/>
            <a:pathLst>
              <a:path h="6163921" w="7107304">
                <a:moveTo>
                  <a:pt x="0" y="0"/>
                </a:moveTo>
                <a:lnTo>
                  <a:pt x="7107304" y="0"/>
                </a:lnTo>
                <a:lnTo>
                  <a:pt x="7107304" y="6163921"/>
                </a:lnTo>
                <a:lnTo>
                  <a:pt x="0" y="6163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635" r="0" b="-12336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59121" y="2067665"/>
            <a:ext cx="6167512" cy="7029704"/>
          </a:xfrm>
          <a:custGeom>
            <a:avLst/>
            <a:gdLst/>
            <a:ahLst/>
            <a:cxnLst/>
            <a:rect r="r" b="b" t="t" l="l"/>
            <a:pathLst>
              <a:path h="7029704" w="6167512">
                <a:moveTo>
                  <a:pt x="0" y="0"/>
                </a:moveTo>
                <a:lnTo>
                  <a:pt x="6167511" y="0"/>
                </a:lnTo>
                <a:lnTo>
                  <a:pt x="6167511" y="7029705"/>
                </a:lnTo>
                <a:lnTo>
                  <a:pt x="0" y="70297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5483" r="0" b="-5611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358730" y="4235311"/>
            <a:ext cx="1949721" cy="194972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E6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Flowchart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2226" y="3775167"/>
            <a:ext cx="17864260" cy="5106201"/>
          </a:xfrm>
          <a:custGeom>
            <a:avLst/>
            <a:gdLst/>
            <a:ahLst/>
            <a:cxnLst/>
            <a:rect r="r" b="b" t="t" l="l"/>
            <a:pathLst>
              <a:path h="5106201" w="17864260">
                <a:moveTo>
                  <a:pt x="0" y="0"/>
                </a:moveTo>
                <a:lnTo>
                  <a:pt x="17864260" y="0"/>
                </a:lnTo>
                <a:lnTo>
                  <a:pt x="17864260" y="5106201"/>
                </a:lnTo>
                <a:lnTo>
                  <a:pt x="0" y="5106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507179" y="0"/>
            <a:ext cx="2780821" cy="2933719"/>
          </a:xfrm>
          <a:custGeom>
            <a:avLst/>
            <a:gdLst/>
            <a:ahLst/>
            <a:cxnLst/>
            <a:rect r="r" b="b" t="t" l="l"/>
            <a:pathLst>
              <a:path h="2933719" w="2780821">
                <a:moveTo>
                  <a:pt x="0" y="0"/>
                </a:moveTo>
                <a:lnTo>
                  <a:pt x="2780821" y="0"/>
                </a:lnTo>
                <a:lnTo>
                  <a:pt x="2780821" y="2933719"/>
                </a:lnTo>
                <a:lnTo>
                  <a:pt x="0" y="29337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07" t="-11948" r="-6187" b="-1031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Hasil Eksperimen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1675" y="1902552"/>
            <a:ext cx="13335000" cy="144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Skenario 1: Perbandingan Model &amp; Data</a:t>
            </a:r>
          </a:p>
          <a:p>
            <a:pPr algn="l">
              <a:lnSpc>
                <a:spcPts val="3899"/>
              </a:lnSpc>
            </a:pPr>
            <a:r>
              <a:rPr lang="en-US" sz="2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Setiap kombinasi model × data diuji untuk K = 2 sampai 8. Total: 3 model × 2 jenis data × 7 nilai K = 42 eksperimen + DBSCAN terpisah.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04488" y="2172914"/>
            <a:ext cx="10603286" cy="3339058"/>
          </a:xfrm>
          <a:custGeom>
            <a:avLst/>
            <a:gdLst/>
            <a:ahLst/>
            <a:cxnLst/>
            <a:rect r="r" b="b" t="t" l="l"/>
            <a:pathLst>
              <a:path h="3339058" w="10603286">
                <a:moveTo>
                  <a:pt x="0" y="0"/>
                </a:moveTo>
                <a:lnTo>
                  <a:pt x="10603286" y="0"/>
                </a:lnTo>
                <a:lnTo>
                  <a:pt x="10603286" y="3339058"/>
                </a:lnTo>
                <a:lnTo>
                  <a:pt x="0" y="3339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813820">
            <a:off x="12025963" y="256405"/>
            <a:ext cx="3165442" cy="3165442"/>
          </a:xfrm>
          <a:custGeom>
            <a:avLst/>
            <a:gdLst/>
            <a:ahLst/>
            <a:cxnLst/>
            <a:rect r="r" b="b" t="t" l="l"/>
            <a:pathLst>
              <a:path h="3165442" w="3165442">
                <a:moveTo>
                  <a:pt x="0" y="0"/>
                </a:moveTo>
                <a:lnTo>
                  <a:pt x="3165442" y="0"/>
                </a:lnTo>
                <a:lnTo>
                  <a:pt x="3165442" y="3165441"/>
                </a:lnTo>
                <a:lnTo>
                  <a:pt x="0" y="3165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Hasil Eksperimen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06284" y="6125166"/>
            <a:ext cx="14254613" cy="313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sz="276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Temuan utama:</a:t>
            </a:r>
          </a:p>
          <a:p>
            <a:pPr algn="l">
              <a:lnSpc>
                <a:spcPts val="4148"/>
              </a:lnSpc>
            </a:pPr>
            <a:r>
              <a:rPr lang="en-US" sz="276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r>
              <a:rPr lang="en-US" sz="276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Data PCA konsisten </a:t>
            </a:r>
            <a:r>
              <a:rPr lang="en-US" sz="276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lebih baik dari Scaled di semua model</a:t>
            </a:r>
          </a:p>
          <a:p>
            <a:pPr algn="l">
              <a:lnSpc>
                <a:spcPts val="4148"/>
              </a:lnSpc>
            </a:pPr>
            <a:r>
              <a:rPr lang="en-US" sz="276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- K-Means unggul dibanding Agglomerative dan GMM di hampir semua K</a:t>
            </a:r>
          </a:p>
          <a:p>
            <a:pPr algn="l">
              <a:lnSpc>
                <a:spcPts val="4148"/>
              </a:lnSpc>
            </a:pPr>
            <a:r>
              <a:rPr lang="en-US" sz="276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- GMM nggak stabil di data Scaled untuk K ≥ 4</a:t>
            </a:r>
          </a:p>
          <a:p>
            <a:pPr algn="l">
              <a:lnSpc>
                <a:spcPts val="4148"/>
              </a:lnSpc>
            </a:pPr>
            <a:r>
              <a:rPr lang="en-US" sz="276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- DBSCAN nggak cocok — data pelanggan tersebar kontinu, nggak membentuk cluster padat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70130" y="2723700"/>
            <a:ext cx="6887264" cy="4233348"/>
          </a:xfrm>
          <a:custGeom>
            <a:avLst/>
            <a:gdLst/>
            <a:ahLst/>
            <a:cxnLst/>
            <a:rect r="r" b="b" t="t" l="l"/>
            <a:pathLst>
              <a:path h="4233348" w="6887264">
                <a:moveTo>
                  <a:pt x="0" y="0"/>
                </a:moveTo>
                <a:lnTo>
                  <a:pt x="6887264" y="0"/>
                </a:lnTo>
                <a:lnTo>
                  <a:pt x="6887264" y="4233348"/>
                </a:lnTo>
                <a:lnTo>
                  <a:pt x="0" y="4233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53348" y="2723700"/>
            <a:ext cx="6887264" cy="4233348"/>
          </a:xfrm>
          <a:custGeom>
            <a:avLst/>
            <a:gdLst/>
            <a:ahLst/>
            <a:cxnLst/>
            <a:rect r="r" b="b" t="t" l="l"/>
            <a:pathLst>
              <a:path h="4233348" w="6887264">
                <a:moveTo>
                  <a:pt x="0" y="0"/>
                </a:moveTo>
                <a:lnTo>
                  <a:pt x="6887264" y="0"/>
                </a:lnTo>
                <a:lnTo>
                  <a:pt x="6887264" y="4233348"/>
                </a:lnTo>
                <a:lnTo>
                  <a:pt x="0" y="4233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Hasil Eksperimen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3348" y="1874295"/>
            <a:ext cx="13335000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Skenario 2: Pemilihan Jumlah Cluster (K)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8416" y="7320492"/>
            <a:ext cx="15570884" cy="240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b="true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Kenapa K = 3?</a:t>
            </a:r>
          </a:p>
          <a:p>
            <a:pPr algn="l">
              <a:lnSpc>
                <a:spcPts val="3899"/>
              </a:lnSpc>
            </a:pPr>
            <a:r>
              <a:rPr lang="en-US" sz="2599" b="true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-</a:t>
            </a:r>
            <a:r>
              <a:rPr lang="en-US" sz="2599" b="true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K=2 metriknya paling tinggi (</a:t>
            </a:r>
            <a:r>
              <a:rPr lang="en-US" sz="2599" b="true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Silhouette 0,393), tapi cuma memisahkan jadi 2 kelompok besar — terlalu kasar buat strategi</a:t>
            </a:r>
          </a:p>
          <a:p>
            <a:pPr algn="l">
              <a:lnSpc>
                <a:spcPts val="3899"/>
              </a:lnSpc>
            </a:pPr>
            <a:r>
              <a:rPr lang="en-US" sz="2599" b="true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- K=3 turun sedikit (0,351) tapi memunculkan segmen menengah yang punya perilaku unik</a:t>
            </a:r>
          </a:p>
          <a:p>
            <a:pPr algn="l">
              <a:lnSpc>
                <a:spcPts val="3899"/>
              </a:lnSpc>
            </a:pPr>
            <a:r>
              <a:rPr lang="en-US" sz="2599" b="true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- K=4 ke atas, metrik turun tajam dan elbow sudah melandai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4000" y="876300"/>
            <a:ext cx="152400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MODEL TERPILIH: K-MEANS, K = 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03418" y="2303813"/>
            <a:ext cx="15460345" cy="6954487"/>
            <a:chOff x="0" y="0"/>
            <a:chExt cx="4071860" cy="18316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71860" cy="1831635"/>
            </a:xfrm>
            <a:custGeom>
              <a:avLst/>
              <a:gdLst/>
              <a:ahLst/>
              <a:cxnLst/>
              <a:rect r="r" b="b" t="t" l="l"/>
              <a:pathLst>
                <a:path h="1831635" w="4071860">
                  <a:moveTo>
                    <a:pt x="40061" y="0"/>
                  </a:moveTo>
                  <a:lnTo>
                    <a:pt x="4031800" y="0"/>
                  </a:lnTo>
                  <a:cubicBezTo>
                    <a:pt x="4053925" y="0"/>
                    <a:pt x="4071860" y="17936"/>
                    <a:pt x="4071860" y="40061"/>
                  </a:cubicBezTo>
                  <a:lnTo>
                    <a:pt x="4071860" y="1791574"/>
                  </a:lnTo>
                  <a:cubicBezTo>
                    <a:pt x="4071860" y="1802199"/>
                    <a:pt x="4067640" y="1812388"/>
                    <a:pt x="4060127" y="1819901"/>
                  </a:cubicBezTo>
                  <a:cubicBezTo>
                    <a:pt x="4052614" y="1827414"/>
                    <a:pt x="4042424" y="1831635"/>
                    <a:pt x="4031800" y="1831635"/>
                  </a:cubicBezTo>
                  <a:lnTo>
                    <a:pt x="40061" y="1831635"/>
                  </a:lnTo>
                  <a:cubicBezTo>
                    <a:pt x="17936" y="1831635"/>
                    <a:pt x="0" y="1813699"/>
                    <a:pt x="0" y="1791574"/>
                  </a:cubicBezTo>
                  <a:lnTo>
                    <a:pt x="0" y="40061"/>
                  </a:lnTo>
                  <a:cubicBezTo>
                    <a:pt x="0" y="17936"/>
                    <a:pt x="17936" y="0"/>
                    <a:pt x="40061" y="0"/>
                  </a:cubicBezTo>
                  <a:close/>
                </a:path>
              </a:pathLst>
            </a:custGeom>
            <a:solidFill>
              <a:srgbClr val="CDD6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71860" cy="1869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360823" y="2635283"/>
            <a:ext cx="13945534" cy="620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50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K-Means pada data PCA paling konsisten unggul dibanding Agglomerative &amp; GMM di hampir semua nilai K.</a:t>
            </a:r>
          </a:p>
          <a:p>
            <a:pPr algn="l">
              <a:lnSpc>
                <a:spcPts val="3764"/>
              </a:lnSpc>
            </a:pPr>
          </a:p>
          <a:p>
            <a:pPr algn="l">
              <a:lnSpc>
                <a:spcPts val="3764"/>
              </a:lnSpc>
            </a:pPr>
            <a:r>
              <a:rPr lang="en-US" sz="250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 = 2 punya skor tertinggi (Silhouette 0,393), tapi terlalu kasar untuk strategi marketing (hanya 2 kelompok besar).</a:t>
            </a:r>
          </a:p>
          <a:p>
            <a:pPr algn="l">
              <a:lnSpc>
                <a:spcPts val="3764"/>
              </a:lnSpc>
            </a:pPr>
          </a:p>
          <a:p>
            <a:pPr algn="l">
              <a:lnSpc>
                <a:spcPts val="3764"/>
              </a:lnSpc>
            </a:pPr>
            <a:r>
              <a:rPr lang="en-US" sz="250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 = 3 dipilih: Silhouette 0,351, Davies-Bouldin 1,087 — turun sedikit namun menghasilkan segmen menengah yang bermakna.</a:t>
            </a:r>
          </a:p>
          <a:p>
            <a:pPr algn="l">
              <a:lnSpc>
                <a:spcPts val="3764"/>
              </a:lnSpc>
            </a:pPr>
          </a:p>
          <a:p>
            <a:pPr algn="l">
              <a:lnSpc>
                <a:spcPts val="3764"/>
              </a:lnSpc>
            </a:pPr>
            <a:r>
              <a:rPr lang="en-US" sz="250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Stabil diuji ulang pada 5 random seed berbeda (Adjusted Rand Index ≈ 1).</a:t>
            </a:r>
          </a:p>
          <a:p>
            <a:pPr algn="l">
              <a:lnSpc>
                <a:spcPts val="3764"/>
              </a:lnSpc>
            </a:pPr>
          </a:p>
          <a:p>
            <a:pPr algn="l">
              <a:lnSpc>
                <a:spcPts val="3764"/>
              </a:lnSpc>
            </a:pPr>
            <a:r>
              <a:rPr lang="en-US" sz="250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DBSCAN tidak cocok: data pelanggan tersebar kontinu, tidak membentuk cluster padat yang terpisah.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11108" y="3192721"/>
            <a:ext cx="8974435" cy="890147"/>
          </a:xfrm>
          <a:custGeom>
            <a:avLst/>
            <a:gdLst/>
            <a:ahLst/>
            <a:cxnLst/>
            <a:rect r="r" b="b" t="t" l="l"/>
            <a:pathLst>
              <a:path h="890147" w="8974435">
                <a:moveTo>
                  <a:pt x="0" y="0"/>
                </a:moveTo>
                <a:lnTo>
                  <a:pt x="8974435" y="0"/>
                </a:lnTo>
                <a:lnTo>
                  <a:pt x="8974435" y="890148"/>
                </a:lnTo>
                <a:lnTo>
                  <a:pt x="0" y="890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448198" y="5143500"/>
            <a:ext cx="3911775" cy="2904652"/>
          </a:xfrm>
          <a:custGeom>
            <a:avLst/>
            <a:gdLst/>
            <a:ahLst/>
            <a:cxnLst/>
            <a:rect r="r" b="b" t="t" l="l"/>
            <a:pathLst>
              <a:path h="2904652" w="3911775">
                <a:moveTo>
                  <a:pt x="0" y="0"/>
                </a:moveTo>
                <a:lnTo>
                  <a:pt x="3911776" y="0"/>
                </a:lnTo>
                <a:lnTo>
                  <a:pt x="3911776" y="2904652"/>
                </a:lnTo>
                <a:lnTo>
                  <a:pt x="0" y="29046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11108" y="6120800"/>
            <a:ext cx="9279833" cy="1637618"/>
          </a:xfrm>
          <a:custGeom>
            <a:avLst/>
            <a:gdLst/>
            <a:ahLst/>
            <a:cxnLst/>
            <a:rect r="r" b="b" t="t" l="l"/>
            <a:pathLst>
              <a:path h="1637618" w="9279833">
                <a:moveTo>
                  <a:pt x="0" y="0"/>
                </a:moveTo>
                <a:lnTo>
                  <a:pt x="9279833" y="0"/>
                </a:lnTo>
                <a:lnTo>
                  <a:pt x="9279833" y="1637617"/>
                </a:lnTo>
                <a:lnTo>
                  <a:pt x="0" y="1637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Hasil Eksperimen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1108" y="1620344"/>
            <a:ext cx="14348866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Skenario 3: Uji Stabilitas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Model K-Means dilatih ulang pakai 5 random seed berbeda. ARI mendekati 1.0 di semua seed → model sangat stabil, nggak sensitif terhadap inisialisasi acak.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11108" y="4301486"/>
            <a:ext cx="10437091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Kesimpulan: ARI mendekati 1.0 di semua seed, artinya model sangat stabil dan tidak sensitif terhadap inisialisasi acak.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45775" y="1869103"/>
            <a:ext cx="10433285" cy="7747136"/>
          </a:xfrm>
          <a:custGeom>
            <a:avLst/>
            <a:gdLst/>
            <a:ahLst/>
            <a:cxnLst/>
            <a:rect r="r" b="b" t="t" l="l"/>
            <a:pathLst>
              <a:path h="7747136" w="10433285">
                <a:moveTo>
                  <a:pt x="0" y="0"/>
                </a:moveTo>
                <a:lnTo>
                  <a:pt x="10433285" y="0"/>
                </a:lnTo>
                <a:lnTo>
                  <a:pt x="10433285" y="7747137"/>
                </a:lnTo>
                <a:lnTo>
                  <a:pt x="0" y="7747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Hasil Eksperimen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66360" y="1028700"/>
            <a:ext cx="12934460" cy="8367517"/>
          </a:xfrm>
          <a:custGeom>
            <a:avLst/>
            <a:gdLst/>
            <a:ahLst/>
            <a:cxnLst/>
            <a:rect r="r" b="b" t="t" l="l"/>
            <a:pathLst>
              <a:path h="8367517" w="12934460">
                <a:moveTo>
                  <a:pt x="0" y="0"/>
                </a:moveTo>
                <a:lnTo>
                  <a:pt x="12934460" y="0"/>
                </a:lnTo>
                <a:lnTo>
                  <a:pt x="12934460" y="8367517"/>
                </a:lnTo>
                <a:lnTo>
                  <a:pt x="0" y="8367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191250" y="2571750"/>
            <a:ext cx="19050" cy="6477000"/>
            <a:chOff x="0" y="0"/>
            <a:chExt cx="25400" cy="863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" cy="8636000"/>
            </a:xfrm>
            <a:custGeom>
              <a:avLst/>
              <a:gdLst/>
              <a:ahLst/>
              <a:cxnLst/>
              <a:rect r="r" b="b" t="t" l="l"/>
              <a:pathLst>
                <a:path h="8636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8636000"/>
                  </a:lnTo>
                  <a:lnTo>
                    <a:pt x="0" y="8636000"/>
                  </a:ln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400" cy="867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96750" y="2571750"/>
            <a:ext cx="19050" cy="6477000"/>
            <a:chOff x="0" y="0"/>
            <a:chExt cx="25400" cy="863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00" cy="8636000"/>
            </a:xfrm>
            <a:custGeom>
              <a:avLst/>
              <a:gdLst/>
              <a:ahLst/>
              <a:cxnLst/>
              <a:rect r="r" b="b" t="t" l="l"/>
              <a:pathLst>
                <a:path h="8636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8636000"/>
                  </a:lnTo>
                  <a:lnTo>
                    <a:pt x="0" y="8636000"/>
                  </a:ln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400" cy="867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96750" y="3556434"/>
            <a:ext cx="5486002" cy="4225293"/>
            <a:chOff x="0" y="0"/>
            <a:chExt cx="1444873" cy="11128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44873" cy="1112834"/>
            </a:xfrm>
            <a:custGeom>
              <a:avLst/>
              <a:gdLst/>
              <a:ahLst/>
              <a:cxnLst/>
              <a:rect r="r" b="b" t="t" l="l"/>
              <a:pathLst>
                <a:path h="1112834" w="1444873">
                  <a:moveTo>
                    <a:pt x="112897" y="0"/>
                  </a:moveTo>
                  <a:lnTo>
                    <a:pt x="1331976" y="0"/>
                  </a:lnTo>
                  <a:cubicBezTo>
                    <a:pt x="1361918" y="0"/>
                    <a:pt x="1390634" y="11894"/>
                    <a:pt x="1411806" y="33067"/>
                  </a:cubicBezTo>
                  <a:cubicBezTo>
                    <a:pt x="1432978" y="54239"/>
                    <a:pt x="1444873" y="82955"/>
                    <a:pt x="1444873" y="112897"/>
                  </a:cubicBezTo>
                  <a:lnTo>
                    <a:pt x="1444873" y="999937"/>
                  </a:lnTo>
                  <a:cubicBezTo>
                    <a:pt x="1444873" y="1029879"/>
                    <a:pt x="1432978" y="1058595"/>
                    <a:pt x="1411806" y="1079768"/>
                  </a:cubicBezTo>
                  <a:cubicBezTo>
                    <a:pt x="1390634" y="1100940"/>
                    <a:pt x="1361918" y="1112834"/>
                    <a:pt x="1331976" y="1112834"/>
                  </a:cubicBezTo>
                  <a:lnTo>
                    <a:pt x="112897" y="1112834"/>
                  </a:lnTo>
                  <a:cubicBezTo>
                    <a:pt x="82955" y="1112834"/>
                    <a:pt x="54239" y="1100940"/>
                    <a:pt x="33067" y="1079768"/>
                  </a:cubicBezTo>
                  <a:cubicBezTo>
                    <a:pt x="11894" y="1058595"/>
                    <a:pt x="0" y="1029879"/>
                    <a:pt x="0" y="999937"/>
                  </a:cubicBezTo>
                  <a:lnTo>
                    <a:pt x="0" y="112897"/>
                  </a:lnTo>
                  <a:cubicBezTo>
                    <a:pt x="0" y="82955"/>
                    <a:pt x="11894" y="54239"/>
                    <a:pt x="33067" y="33067"/>
                  </a:cubicBezTo>
                  <a:cubicBezTo>
                    <a:pt x="54239" y="11894"/>
                    <a:pt x="82955" y="0"/>
                    <a:pt x="112897" y="0"/>
                  </a:cubicBezTo>
                  <a:close/>
                </a:path>
              </a:pathLst>
            </a:custGeom>
            <a:solidFill>
              <a:srgbClr val="CDD6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44873" cy="115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24623" y="3556434"/>
            <a:ext cx="5147502" cy="4225293"/>
            <a:chOff x="0" y="0"/>
            <a:chExt cx="1355721" cy="11128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55721" cy="1112834"/>
            </a:xfrm>
            <a:custGeom>
              <a:avLst/>
              <a:gdLst/>
              <a:ahLst/>
              <a:cxnLst/>
              <a:rect r="r" b="b" t="t" l="l"/>
              <a:pathLst>
                <a:path h="1112834" w="1355721">
                  <a:moveTo>
                    <a:pt x="120321" y="0"/>
                  </a:moveTo>
                  <a:lnTo>
                    <a:pt x="1235400" y="0"/>
                  </a:lnTo>
                  <a:cubicBezTo>
                    <a:pt x="1267311" y="0"/>
                    <a:pt x="1297915" y="12677"/>
                    <a:pt x="1320480" y="35241"/>
                  </a:cubicBezTo>
                  <a:cubicBezTo>
                    <a:pt x="1343044" y="57806"/>
                    <a:pt x="1355721" y="88410"/>
                    <a:pt x="1355721" y="120321"/>
                  </a:cubicBezTo>
                  <a:lnTo>
                    <a:pt x="1355721" y="992513"/>
                  </a:lnTo>
                  <a:cubicBezTo>
                    <a:pt x="1355721" y="1024424"/>
                    <a:pt x="1343044" y="1055028"/>
                    <a:pt x="1320480" y="1077593"/>
                  </a:cubicBezTo>
                  <a:cubicBezTo>
                    <a:pt x="1297915" y="1100158"/>
                    <a:pt x="1267311" y="1112834"/>
                    <a:pt x="1235400" y="1112834"/>
                  </a:cubicBezTo>
                  <a:lnTo>
                    <a:pt x="120321" y="1112834"/>
                  </a:lnTo>
                  <a:cubicBezTo>
                    <a:pt x="88410" y="1112834"/>
                    <a:pt x="57806" y="1100158"/>
                    <a:pt x="35241" y="1077593"/>
                  </a:cubicBezTo>
                  <a:cubicBezTo>
                    <a:pt x="12677" y="1055028"/>
                    <a:pt x="0" y="1024424"/>
                    <a:pt x="0" y="992513"/>
                  </a:cubicBezTo>
                  <a:lnTo>
                    <a:pt x="0" y="120321"/>
                  </a:lnTo>
                  <a:cubicBezTo>
                    <a:pt x="0" y="88410"/>
                    <a:pt x="12677" y="57806"/>
                    <a:pt x="35241" y="35241"/>
                  </a:cubicBezTo>
                  <a:cubicBezTo>
                    <a:pt x="57806" y="12677"/>
                    <a:pt x="88410" y="0"/>
                    <a:pt x="120321" y="0"/>
                  </a:cubicBezTo>
                  <a:close/>
                </a:path>
              </a:pathLst>
            </a:custGeom>
            <a:solidFill>
              <a:srgbClr val="CDD6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55721" cy="115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260686" y="3556434"/>
            <a:ext cx="5486002" cy="4225293"/>
            <a:chOff x="0" y="0"/>
            <a:chExt cx="1444873" cy="11128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44873" cy="1112834"/>
            </a:xfrm>
            <a:custGeom>
              <a:avLst/>
              <a:gdLst/>
              <a:ahLst/>
              <a:cxnLst/>
              <a:rect r="r" b="b" t="t" l="l"/>
              <a:pathLst>
                <a:path h="1112834" w="1444873">
                  <a:moveTo>
                    <a:pt x="112897" y="0"/>
                  </a:moveTo>
                  <a:lnTo>
                    <a:pt x="1331976" y="0"/>
                  </a:lnTo>
                  <a:cubicBezTo>
                    <a:pt x="1361918" y="0"/>
                    <a:pt x="1390634" y="11894"/>
                    <a:pt x="1411806" y="33067"/>
                  </a:cubicBezTo>
                  <a:cubicBezTo>
                    <a:pt x="1432978" y="54239"/>
                    <a:pt x="1444873" y="82955"/>
                    <a:pt x="1444873" y="112897"/>
                  </a:cubicBezTo>
                  <a:lnTo>
                    <a:pt x="1444873" y="999937"/>
                  </a:lnTo>
                  <a:cubicBezTo>
                    <a:pt x="1444873" y="1029879"/>
                    <a:pt x="1432978" y="1058595"/>
                    <a:pt x="1411806" y="1079768"/>
                  </a:cubicBezTo>
                  <a:cubicBezTo>
                    <a:pt x="1390634" y="1100940"/>
                    <a:pt x="1361918" y="1112834"/>
                    <a:pt x="1331976" y="1112834"/>
                  </a:cubicBezTo>
                  <a:lnTo>
                    <a:pt x="112897" y="1112834"/>
                  </a:lnTo>
                  <a:cubicBezTo>
                    <a:pt x="82955" y="1112834"/>
                    <a:pt x="54239" y="1100940"/>
                    <a:pt x="33067" y="1079768"/>
                  </a:cubicBezTo>
                  <a:cubicBezTo>
                    <a:pt x="11894" y="1058595"/>
                    <a:pt x="0" y="1029879"/>
                    <a:pt x="0" y="999937"/>
                  </a:cubicBezTo>
                  <a:lnTo>
                    <a:pt x="0" y="112897"/>
                  </a:lnTo>
                  <a:cubicBezTo>
                    <a:pt x="0" y="82955"/>
                    <a:pt x="11894" y="54239"/>
                    <a:pt x="33067" y="33067"/>
                  </a:cubicBezTo>
                  <a:cubicBezTo>
                    <a:pt x="54239" y="11894"/>
                    <a:pt x="82955" y="0"/>
                    <a:pt x="112897" y="0"/>
                  </a:cubicBezTo>
                  <a:close/>
                </a:path>
              </a:pathLst>
            </a:custGeom>
            <a:solidFill>
              <a:srgbClr val="CDD6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44873" cy="115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30263" y="3785588"/>
            <a:ext cx="4336221" cy="370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30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Cluster 0 — 645 pelanggan (29%)</a:t>
            </a:r>
          </a:p>
          <a:p>
            <a:pPr algn="l">
              <a:lnSpc>
                <a:spcPts val="3232"/>
              </a:lnSpc>
            </a:pPr>
          </a:p>
          <a:p>
            <a:pPr algn="l">
              <a:lnSpc>
                <a:spcPts val="3232"/>
              </a:lnSpc>
            </a:pPr>
            <a:r>
              <a:rPr lang="en-US" sz="230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Income ~Rp75 jt/th</a:t>
            </a:r>
          </a:p>
          <a:p>
            <a:pPr algn="l">
              <a:lnSpc>
                <a:spcPts val="3232"/>
              </a:lnSpc>
            </a:pPr>
          </a:p>
          <a:p>
            <a:pPr algn="l">
              <a:lnSpc>
                <a:spcPts val="3232"/>
              </a:lnSpc>
            </a:pPr>
            <a:r>
              <a:rPr lang="en-US" sz="230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Total belanja ~Rp1.256rb</a:t>
            </a:r>
          </a:p>
          <a:p>
            <a:pPr algn="l">
              <a:lnSpc>
                <a:spcPts val="3232"/>
              </a:lnSpc>
            </a:pPr>
            <a:r>
              <a:rPr lang="en-US" sz="230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(60% dari total pendapatan)</a:t>
            </a:r>
          </a:p>
          <a:p>
            <a:pPr algn="l">
              <a:lnSpc>
                <a:spcPts val="3232"/>
              </a:lnSpc>
            </a:pPr>
          </a:p>
          <a:p>
            <a:pPr algn="l">
              <a:lnSpc>
                <a:spcPts val="3232"/>
              </a:lnSpc>
            </a:pPr>
            <a:r>
              <a:rPr lang="en-US" sz="230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Diskon: jarang dipakai (1,2x)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4000" y="828675"/>
            <a:ext cx="152400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3 SEGMEN PELANGGAN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4990" y="2790825"/>
            <a:ext cx="2473840" cy="57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684" b="true">
                <a:solidFill>
                  <a:srgbClr val="FFD034"/>
                </a:solidFill>
                <a:latin typeface="Arimo Bold"/>
                <a:ea typeface="Arimo Bold"/>
                <a:cs typeface="Arimo Bold"/>
                <a:sym typeface="Arimo Bold"/>
              </a:rPr>
              <a:t>PREMIUM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13323" y="2733210"/>
            <a:ext cx="2180728" cy="63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4133" b="true">
                <a:solidFill>
                  <a:srgbClr val="FFD034"/>
                </a:solidFill>
                <a:latin typeface="Arimo Bold"/>
                <a:ea typeface="Arimo Bold"/>
                <a:cs typeface="Arimo Bold"/>
                <a:sym typeface="Arimo Bold"/>
              </a:rPr>
              <a:t>HEMAT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45904" y="3965790"/>
            <a:ext cx="5586220" cy="334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38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Cluster 1 — 878 pelanggan (40%)</a:t>
            </a:r>
          </a:p>
          <a:p>
            <a:pPr algn="l">
              <a:lnSpc>
                <a:spcPts val="3335"/>
              </a:lnSpc>
            </a:pPr>
          </a:p>
          <a:p>
            <a:pPr algn="l">
              <a:lnSpc>
                <a:spcPts val="3335"/>
              </a:lnSpc>
            </a:pPr>
            <a:r>
              <a:rPr lang="en-US" sz="238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Income ~Rp32 jt/th</a:t>
            </a:r>
          </a:p>
          <a:p>
            <a:pPr algn="l">
              <a:lnSpc>
                <a:spcPts val="3335"/>
              </a:lnSpc>
            </a:pPr>
          </a:p>
          <a:p>
            <a:pPr algn="l">
              <a:lnSpc>
                <a:spcPts val="3335"/>
              </a:lnSpc>
            </a:pPr>
            <a:r>
              <a:rPr lang="en-US" sz="238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Total belanja ~Rp71rb</a:t>
            </a:r>
          </a:p>
          <a:p>
            <a:pPr algn="l">
              <a:lnSpc>
                <a:spcPts val="3335"/>
              </a:lnSpc>
            </a:pPr>
            <a:r>
              <a:rPr lang="en-US" sz="238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(hanya 5% dari total pendapatan)</a:t>
            </a:r>
          </a:p>
          <a:p>
            <a:pPr algn="l">
              <a:lnSpc>
                <a:spcPts val="3335"/>
              </a:lnSpc>
            </a:pPr>
          </a:p>
          <a:p>
            <a:pPr algn="l">
              <a:lnSpc>
                <a:spcPts val="3335"/>
              </a:lnSpc>
            </a:pPr>
            <a:r>
              <a:rPr lang="en-US" sz="238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Kunjungan web tertinggi (6,6x/bln)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61886" y="2228385"/>
            <a:ext cx="400211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1"/>
              </a:lnSpc>
            </a:pPr>
            <a:r>
              <a:rPr lang="en-US" sz="3251" b="true">
                <a:solidFill>
                  <a:srgbClr val="FFD034"/>
                </a:solidFill>
                <a:latin typeface="Arimo Bold"/>
                <a:ea typeface="Arimo Bold"/>
                <a:cs typeface="Arimo Bold"/>
                <a:sym typeface="Arimo Bold"/>
              </a:rPr>
              <a:t>KELUARGA PEMBURU DISKON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84549" y="3965790"/>
            <a:ext cx="4887561" cy="344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Cluster 2 — 689 pelanggan (31%)</a:t>
            </a:r>
          </a:p>
          <a:p>
            <a:pPr algn="l">
              <a:lnSpc>
                <a:spcPts val="3045"/>
              </a:lnSpc>
            </a:pPr>
          </a:p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Income ~Rp55 jt/th</a:t>
            </a:r>
          </a:p>
          <a:p>
            <a:pPr algn="l">
              <a:lnSpc>
                <a:spcPts val="3045"/>
              </a:lnSpc>
            </a:pPr>
          </a:p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Total belanja ~Rp684rb</a:t>
            </a:r>
          </a:p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(35% dari total pendapatan)</a:t>
            </a:r>
          </a:p>
          <a:p>
            <a:pPr algn="l">
              <a:lnSpc>
                <a:spcPts val="3045"/>
              </a:lnSpc>
            </a:pPr>
          </a:p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Diskon tertinggi (4,0x), aktif di web &amp; toko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4043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4000" y="828675"/>
            <a:ext cx="152400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PERSONA &amp; REKOMENDASI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91250" y="2571750"/>
            <a:ext cx="19050" cy="6477000"/>
            <a:chOff x="0" y="0"/>
            <a:chExt cx="25400" cy="863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00" cy="8636000"/>
            </a:xfrm>
            <a:custGeom>
              <a:avLst/>
              <a:gdLst/>
              <a:ahLst/>
              <a:cxnLst/>
              <a:rect r="r" b="b" t="t" l="l"/>
              <a:pathLst>
                <a:path h="8636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8636000"/>
                  </a:lnTo>
                  <a:lnTo>
                    <a:pt x="0" y="8636000"/>
                  </a:ln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400" cy="867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96750" y="2571750"/>
            <a:ext cx="19050" cy="6477000"/>
            <a:chOff x="0" y="0"/>
            <a:chExt cx="25400" cy="863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" cy="8636000"/>
            </a:xfrm>
            <a:custGeom>
              <a:avLst/>
              <a:gdLst/>
              <a:ahLst/>
              <a:cxnLst/>
              <a:rect r="r" b="b" t="t" l="l"/>
              <a:pathLst>
                <a:path h="8636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8636000"/>
                  </a:lnTo>
                  <a:lnTo>
                    <a:pt x="0" y="8636000"/>
                  </a:ln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400" cy="867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8250" y="2466975"/>
            <a:ext cx="4572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D034"/>
                </a:solidFill>
                <a:latin typeface="Arimo Bold"/>
                <a:ea typeface="Arimo Bold"/>
                <a:cs typeface="Arimo Bold"/>
                <a:sym typeface="Arimo Bold"/>
              </a:rPr>
              <a:t>PREMIUM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200400"/>
            <a:ext cx="5162550" cy="295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101" indent="-228551" lvl="1">
              <a:lnSpc>
                <a:spcPts val="2964"/>
              </a:lnSpc>
              <a:buFont typeface="Arial"/>
              <a:buChar char="•"/>
            </a:pPr>
            <a:r>
              <a:rPr lang="en-US" b="true" sz="2117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Income tinggi, jarang pakai diskon, sumbang 60% dari total pendapatan.</a:t>
            </a:r>
          </a:p>
          <a:p>
            <a:pPr algn="l">
              <a:lnSpc>
                <a:spcPts val="2964"/>
              </a:lnSpc>
            </a:pPr>
          </a:p>
          <a:p>
            <a:pPr algn="l" marL="457101" indent="-228551" lvl="1">
              <a:lnSpc>
                <a:spcPts val="2964"/>
              </a:lnSpc>
              <a:buFont typeface="Arial"/>
              <a:buChar char="•"/>
            </a:pPr>
            <a:r>
              <a:rPr lang="en-US" b="true" sz="2117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Rekomendasi: program VIP/loyalitas, katalog eksklusif, produk premium (wine &amp; daging). Diskon besar tidak diperlukan.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96125" y="2466975"/>
            <a:ext cx="4572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D034"/>
                </a:solidFill>
                <a:latin typeface="Arimo Bold"/>
                <a:ea typeface="Arimo Bold"/>
                <a:cs typeface="Arimo Bold"/>
                <a:sym typeface="Arimo Bold"/>
              </a:rPr>
              <a:t>HEMAT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63561" y="3200400"/>
            <a:ext cx="5216259" cy="332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857" indent="-230929" lvl="1">
              <a:lnSpc>
                <a:spcPts val="2994"/>
              </a:lnSpc>
              <a:buFont typeface="Arial"/>
              <a:buChar char="•"/>
            </a:pPr>
            <a:r>
              <a:rPr lang="en-US" b="true" sz="2139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Income rendah, mayoritas punya anak, sering buka web tapi jarang membeli, hampir tidak merespons kampanye.</a:t>
            </a:r>
          </a:p>
          <a:p>
            <a:pPr algn="l">
              <a:lnSpc>
                <a:spcPts val="2994"/>
              </a:lnSpc>
            </a:pPr>
          </a:p>
          <a:p>
            <a:pPr algn="l" marL="461857" indent="-230929" lvl="1">
              <a:lnSpc>
                <a:spcPts val="2994"/>
              </a:lnSpc>
              <a:buFont typeface="Arial"/>
              <a:buChar char="•"/>
            </a:pPr>
            <a:r>
              <a:rPr lang="en-US" b="true" sz="2139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Rekomendasi: fokus konversi (voucher first purchase, pengingat keranjang), paket kebutuhan keluarga terjangkau.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49250" y="2457450"/>
            <a:ext cx="4381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D034"/>
                </a:solidFill>
                <a:latin typeface="Arimo Bold"/>
                <a:ea typeface="Arimo Bold"/>
                <a:cs typeface="Arimo Bold"/>
                <a:sym typeface="Arimo Bold"/>
              </a:rPr>
              <a:t>KELUARGA PEMBURU DISKON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01600" y="3200400"/>
            <a:ext cx="5076975" cy="303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9068" indent="-234534" lvl="1">
              <a:lnSpc>
                <a:spcPts val="3041"/>
              </a:lnSpc>
              <a:buFont typeface="Arial"/>
              <a:buChar char="•"/>
            </a:pPr>
            <a:r>
              <a:rPr lang="en-US" b="true" sz="2172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Income menengah, hampir semua punya anak, sangat sensitif diskon, aktif di web &amp; toko.</a:t>
            </a:r>
          </a:p>
          <a:p>
            <a:pPr algn="l">
              <a:lnSpc>
                <a:spcPts val="3041"/>
              </a:lnSpc>
            </a:pPr>
          </a:p>
          <a:p>
            <a:pPr algn="l" marL="469068" indent="-234534" lvl="1">
              <a:lnSpc>
                <a:spcPts val="3041"/>
              </a:lnSpc>
              <a:buFont typeface="Arial"/>
              <a:buChar char="•"/>
            </a:pPr>
            <a:r>
              <a:rPr lang="en-US" b="true" sz="2172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Rekomendasi: promo bundling keluarga, flash sale online, promo wine — berpotensi naik ke level Premium.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KESIMPULAN &amp; KETERBATASAN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459482" y="2675363"/>
            <a:ext cx="19941668" cy="5638277"/>
            <a:chOff x="0" y="0"/>
            <a:chExt cx="5252126" cy="1484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52126" cy="1484978"/>
            </a:xfrm>
            <a:custGeom>
              <a:avLst/>
              <a:gdLst/>
              <a:ahLst/>
              <a:cxnLst/>
              <a:rect r="r" b="b" t="t" l="l"/>
              <a:pathLst>
                <a:path h="1484978" w="5252126">
                  <a:moveTo>
                    <a:pt x="31058" y="0"/>
                  </a:moveTo>
                  <a:lnTo>
                    <a:pt x="5221068" y="0"/>
                  </a:lnTo>
                  <a:cubicBezTo>
                    <a:pt x="5238221" y="0"/>
                    <a:pt x="5252126" y="13905"/>
                    <a:pt x="5252126" y="31058"/>
                  </a:cubicBezTo>
                  <a:lnTo>
                    <a:pt x="5252126" y="1453920"/>
                  </a:lnTo>
                  <a:cubicBezTo>
                    <a:pt x="5252126" y="1471073"/>
                    <a:pt x="5238221" y="1484978"/>
                    <a:pt x="5221068" y="1484978"/>
                  </a:cubicBezTo>
                  <a:lnTo>
                    <a:pt x="31058" y="1484978"/>
                  </a:lnTo>
                  <a:cubicBezTo>
                    <a:pt x="13905" y="1484978"/>
                    <a:pt x="0" y="1471073"/>
                    <a:pt x="0" y="1453920"/>
                  </a:cubicBezTo>
                  <a:lnTo>
                    <a:pt x="0" y="31058"/>
                  </a:lnTo>
                  <a:cubicBezTo>
                    <a:pt x="0" y="13905"/>
                    <a:pt x="13905" y="0"/>
                    <a:pt x="310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52126" cy="1523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476500" y="2781300"/>
            <a:ext cx="13335000" cy="532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K-Means pada data PCA dengan K = 3 memberi keseimbangan terbaik antara performa metrik (Silhouette 0,351) dan kemudahan interpretasi bisnis.</a:t>
            </a:r>
          </a:p>
          <a:p>
            <a:pPr algn="l">
              <a:lnSpc>
                <a:spcPts val="3899"/>
              </a:lnSpc>
            </a:pPr>
          </a:p>
          <a:p>
            <a:pPr algn="l">
              <a:lnSpc>
                <a:spcPts val="3899"/>
              </a:lnSpc>
            </a:pPr>
            <a:r>
              <a:rPr lang="en-US" sz="25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Pembeda utama antar-segmen: income, total belanja, keberadaan anak, dan sensitivitas terhadap diskon.</a:t>
            </a:r>
          </a:p>
          <a:p>
            <a:pPr algn="l">
              <a:lnSpc>
                <a:spcPts val="3899"/>
              </a:lnSpc>
            </a:pPr>
          </a:p>
          <a:p>
            <a:pPr algn="l">
              <a:lnSpc>
                <a:spcPts val="3899"/>
              </a:lnSpc>
            </a:pPr>
            <a:r>
              <a:rPr lang="en-US" sz="25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Keterbatasan: Silhouette 0,35 berarti batas antar-cluster tidak terlalu tegas — pelanggan tersebar kontinu, bukan mengumpul rapi.</a:t>
            </a:r>
          </a:p>
          <a:p>
            <a:pPr algn="l">
              <a:lnSpc>
                <a:spcPts val="3899"/>
              </a:lnSpc>
            </a:pPr>
          </a:p>
          <a:p>
            <a:pPr algn="l">
              <a:lnSpc>
                <a:spcPts val="3899"/>
              </a:lnSpc>
            </a:pPr>
            <a:r>
              <a:rPr lang="en-US" sz="25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Data berasal dari periode 2012–2014, sebaiknya diperbarui sebelum dipakai untuk keputusan bisnis saat ini.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82" y="0"/>
            <a:ext cx="18204918" cy="10258094"/>
            <a:chOff x="0" y="0"/>
            <a:chExt cx="4794711" cy="270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711" cy="2701720"/>
            </a:xfrm>
            <a:custGeom>
              <a:avLst/>
              <a:gdLst/>
              <a:ahLst/>
              <a:cxnLst/>
              <a:rect r="r" b="b" t="t" l="l"/>
              <a:pathLst>
                <a:path h="2701720" w="4794711">
                  <a:moveTo>
                    <a:pt x="0" y="0"/>
                  </a:moveTo>
                  <a:lnTo>
                    <a:pt x="4794711" y="0"/>
                  </a:lnTo>
                  <a:lnTo>
                    <a:pt x="4794711" y="2701720"/>
                  </a:lnTo>
                  <a:lnTo>
                    <a:pt x="0" y="2701720"/>
                  </a:ln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4711" cy="27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73418"/>
            <a:ext cx="20289333" cy="10567177"/>
          </a:xfrm>
          <a:custGeom>
            <a:avLst/>
            <a:gdLst/>
            <a:ahLst/>
            <a:cxnLst/>
            <a:rect r="r" b="b" t="t" l="l"/>
            <a:pathLst>
              <a:path h="10567177" w="20289333">
                <a:moveTo>
                  <a:pt x="0" y="0"/>
                </a:moveTo>
                <a:lnTo>
                  <a:pt x="20289333" y="0"/>
                </a:lnTo>
                <a:lnTo>
                  <a:pt x="20289333" y="10567178"/>
                </a:lnTo>
                <a:lnTo>
                  <a:pt x="0" y="1056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48571" r="0" b="-43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84211" y="-73418"/>
            <a:ext cx="19035603" cy="10331511"/>
            <a:chOff x="0" y="0"/>
            <a:chExt cx="5013492" cy="272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3492" cy="2721056"/>
            </a:xfrm>
            <a:custGeom>
              <a:avLst/>
              <a:gdLst/>
              <a:ahLst/>
              <a:cxnLst/>
              <a:rect r="r" b="b" t="t" l="l"/>
              <a:pathLst>
                <a:path h="2721056" w="5013492">
                  <a:moveTo>
                    <a:pt x="0" y="0"/>
                  </a:moveTo>
                  <a:lnTo>
                    <a:pt x="5013492" y="0"/>
                  </a:lnTo>
                  <a:lnTo>
                    <a:pt x="5013492" y="2721056"/>
                  </a:lnTo>
                  <a:lnTo>
                    <a:pt x="0" y="2721056"/>
                  </a:lnTo>
                  <a:close/>
                </a:path>
              </a:pathLst>
            </a:custGeom>
            <a:gradFill rotWithShape="true">
              <a:gsLst>
                <a:gs pos="0">
                  <a:srgbClr val="1900FF">
                    <a:alpha val="12765"/>
                  </a:srgbClr>
                </a:gs>
                <a:gs pos="50000">
                  <a:srgbClr val="000000">
                    <a:alpha val="11500"/>
                  </a:srgbClr>
                </a:gs>
                <a:gs pos="100000">
                  <a:srgbClr val="FA00FF">
                    <a:alpha val="23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13492" cy="275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59482" y="-309084"/>
            <a:ext cx="19205055" cy="10802844"/>
          </a:xfrm>
          <a:custGeom>
            <a:avLst/>
            <a:gdLst/>
            <a:ahLst/>
            <a:cxnLst/>
            <a:rect r="r" b="b" t="t" l="l"/>
            <a:pathLst>
              <a:path h="10802844" w="19205055">
                <a:moveTo>
                  <a:pt x="0" y="0"/>
                </a:moveTo>
                <a:lnTo>
                  <a:pt x="19205056" y="0"/>
                </a:lnTo>
                <a:lnTo>
                  <a:pt x="19205056" y="10802844"/>
                </a:lnTo>
                <a:lnTo>
                  <a:pt x="0" y="1080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714272" y="3152904"/>
          <a:ext cx="12080148" cy="3952285"/>
        </p:xfrm>
        <a:graphic>
          <a:graphicData uri="http://schemas.openxmlformats.org/drawingml/2006/table">
            <a:tbl>
              <a:tblPr/>
              <a:tblGrid>
                <a:gridCol w="4026716"/>
                <a:gridCol w="4026716"/>
                <a:gridCol w="4026716"/>
              </a:tblGrid>
              <a:tr h="8014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1 Bold"/>
                          <a:ea typeface="Canva Sans 1 Bold"/>
                          <a:cs typeface="Canva Sans 1 Bold"/>
                          <a:sym typeface="Canva Sans 1 Bold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1 Bold"/>
                          <a:ea typeface="Canva Sans 1 Bold"/>
                          <a:cs typeface="Canva Sans 1 Bold"/>
                          <a:sym typeface="Canva Sans 1 Bold"/>
                        </a:rPr>
                        <a:t>Nama Anggota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1 Bold"/>
                          <a:ea typeface="Canva Sans 1 Bold"/>
                          <a:cs typeface="Canva Sans 1 Bold"/>
                          <a:sym typeface="Canva Sans 1 Bold"/>
                        </a:rPr>
                        <a:t>Tugas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7876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1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AZIZ RAHMAD ARIFIN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Pembuatan Model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7876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2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ISHAM HAWALI ARIJUDDIN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Merancang PPT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7876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3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SULAIMAN FAIZ TSAQIB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Pembuatan Model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7876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4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COKORDA BAGUS LAKSMANA ISWARA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 1"/>
                          <a:ea typeface="Canva Sans 1"/>
                          <a:cs typeface="Canva Sans 1"/>
                          <a:sym typeface="Canva Sans 1"/>
                        </a:rPr>
                        <a:t>Merancang PPT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524000" y="885825"/>
            <a:ext cx="15240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FFE600"/>
                </a:solidFill>
                <a:latin typeface="Arimo Bold"/>
                <a:ea typeface="Arimo Bold"/>
                <a:cs typeface="Arimo Bold"/>
                <a:sym typeface="Arimo Bold"/>
              </a:rPr>
              <a:t>Pembagian Tugas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DAHWGMb1xLc</dc:identifier>
  <dcterms:modified xsi:type="dcterms:W3CDTF">2011-08-01T06:04:30Z</dcterms:modified>
  <cp:revision>1</cp:revision>
  <dc:title>Segmentasi Pelanggan Menggunakan Algoritma K-Means Clustering Berdasarkan Karakteristik dan Perilaku Belanja</dc:title>
</cp:coreProperties>
</file>